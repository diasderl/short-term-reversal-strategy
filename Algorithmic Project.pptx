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6"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42ABA8-B8FE-4D18-A106-EBFD4974EFB3}" type="datetimeFigureOut">
              <a:rPr lang="en-US" smtClean="0"/>
              <a:t>4/22/2026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043AC0-2025-4B16-A9F6-04C0CAF220E0}" type="slidenum">
              <a:rPr lang="en-US" smtClean="0"/>
              <a:t>‹#›</a:t>
            </a:fld>
            <a:endParaRPr lang="en-US"/>
          </a:p>
        </p:txBody>
      </p:sp>
    </p:spTree>
    <p:extLst>
      <p:ext uri="{BB962C8B-B14F-4D97-AF65-F5344CB8AC3E}">
        <p14:creationId xmlns:p14="http://schemas.microsoft.com/office/powerpoint/2010/main" val="6003486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043AC0-2025-4B16-A9F6-04C0CAF220E0}" type="slidenum">
              <a:rPr lang="en-US" smtClean="0"/>
              <a:t>2</a:t>
            </a:fld>
            <a:endParaRPr lang="en-US"/>
          </a:p>
        </p:txBody>
      </p:sp>
    </p:spTree>
    <p:extLst>
      <p:ext uri="{BB962C8B-B14F-4D97-AF65-F5344CB8AC3E}">
        <p14:creationId xmlns:p14="http://schemas.microsoft.com/office/powerpoint/2010/main" val="6011414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83DBC-69CF-1BA6-ED38-22AEA16E7C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BCB076-0E50-065E-CCDF-DE332FDBF4E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D99969-300B-AA9D-4B05-8ABB5F47B3F9}"/>
              </a:ext>
            </a:extLst>
          </p:cNvPr>
          <p:cNvSpPr>
            <a:spLocks noGrp="1"/>
          </p:cNvSpPr>
          <p:nvPr>
            <p:ph type="dt" sz="half" idx="10"/>
          </p:nvPr>
        </p:nvSpPr>
        <p:spPr/>
        <p:txBody>
          <a:bodyPr/>
          <a:lstStyle/>
          <a:p>
            <a:fld id="{22942750-2271-4ABA-8239-3A00CE592D5B}" type="datetimeFigureOut">
              <a:rPr lang="en-US" smtClean="0"/>
              <a:t>4/22/2026</a:t>
            </a:fld>
            <a:endParaRPr lang="en-US"/>
          </a:p>
        </p:txBody>
      </p:sp>
      <p:sp>
        <p:nvSpPr>
          <p:cNvPr id="5" name="Footer Placeholder 4">
            <a:extLst>
              <a:ext uri="{FF2B5EF4-FFF2-40B4-BE49-F238E27FC236}">
                <a16:creationId xmlns:a16="http://schemas.microsoft.com/office/drawing/2014/main" id="{ADDBE9F6-8730-FA35-B12E-03BF03B1C4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B91C7D-F5EE-1A87-FBC9-0C5947D10092}"/>
              </a:ext>
            </a:extLst>
          </p:cNvPr>
          <p:cNvSpPr>
            <a:spLocks noGrp="1"/>
          </p:cNvSpPr>
          <p:nvPr>
            <p:ph type="sldNum" sz="quarter" idx="12"/>
          </p:nvPr>
        </p:nvSpPr>
        <p:spPr/>
        <p:txBody>
          <a:bodyPr/>
          <a:lstStyle/>
          <a:p>
            <a:fld id="{8D15899F-91F4-4A32-B523-11ADE47A0750}" type="slidenum">
              <a:rPr lang="en-US" smtClean="0"/>
              <a:t>‹#›</a:t>
            </a:fld>
            <a:endParaRPr lang="en-US"/>
          </a:p>
        </p:txBody>
      </p:sp>
    </p:spTree>
    <p:extLst>
      <p:ext uri="{BB962C8B-B14F-4D97-AF65-F5344CB8AC3E}">
        <p14:creationId xmlns:p14="http://schemas.microsoft.com/office/powerpoint/2010/main" val="3090979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78516-D878-ABF9-8D34-042CB5797C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792C87-2859-F105-3818-6A9DAD2CA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02251E-4E8C-9DA7-BE25-1ED6B69231E0}"/>
              </a:ext>
            </a:extLst>
          </p:cNvPr>
          <p:cNvSpPr>
            <a:spLocks noGrp="1"/>
          </p:cNvSpPr>
          <p:nvPr>
            <p:ph type="dt" sz="half" idx="10"/>
          </p:nvPr>
        </p:nvSpPr>
        <p:spPr/>
        <p:txBody>
          <a:bodyPr/>
          <a:lstStyle/>
          <a:p>
            <a:fld id="{22942750-2271-4ABA-8239-3A00CE592D5B}" type="datetimeFigureOut">
              <a:rPr lang="en-US" smtClean="0"/>
              <a:t>4/22/2026</a:t>
            </a:fld>
            <a:endParaRPr lang="en-US"/>
          </a:p>
        </p:txBody>
      </p:sp>
      <p:sp>
        <p:nvSpPr>
          <p:cNvPr id="5" name="Footer Placeholder 4">
            <a:extLst>
              <a:ext uri="{FF2B5EF4-FFF2-40B4-BE49-F238E27FC236}">
                <a16:creationId xmlns:a16="http://schemas.microsoft.com/office/drawing/2014/main" id="{9C56B83A-4DBC-1216-2A6B-6D68A248EA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CAB6E-6A7F-E1AA-4519-F5E2C324A50E}"/>
              </a:ext>
            </a:extLst>
          </p:cNvPr>
          <p:cNvSpPr>
            <a:spLocks noGrp="1"/>
          </p:cNvSpPr>
          <p:nvPr>
            <p:ph type="sldNum" sz="quarter" idx="12"/>
          </p:nvPr>
        </p:nvSpPr>
        <p:spPr/>
        <p:txBody>
          <a:bodyPr/>
          <a:lstStyle/>
          <a:p>
            <a:fld id="{8D15899F-91F4-4A32-B523-11ADE47A0750}" type="slidenum">
              <a:rPr lang="en-US" smtClean="0"/>
              <a:t>‹#›</a:t>
            </a:fld>
            <a:endParaRPr lang="en-US"/>
          </a:p>
        </p:txBody>
      </p:sp>
    </p:spTree>
    <p:extLst>
      <p:ext uri="{BB962C8B-B14F-4D97-AF65-F5344CB8AC3E}">
        <p14:creationId xmlns:p14="http://schemas.microsoft.com/office/powerpoint/2010/main" val="4169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0994E-5ECF-B4ED-524E-547C5A1241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B533300-F27F-518D-12C0-0A9755C20F2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21969B-5D3F-C8A6-46B8-8CE598A5771C}"/>
              </a:ext>
            </a:extLst>
          </p:cNvPr>
          <p:cNvSpPr>
            <a:spLocks noGrp="1"/>
          </p:cNvSpPr>
          <p:nvPr>
            <p:ph type="dt" sz="half" idx="10"/>
          </p:nvPr>
        </p:nvSpPr>
        <p:spPr/>
        <p:txBody>
          <a:bodyPr/>
          <a:lstStyle/>
          <a:p>
            <a:fld id="{22942750-2271-4ABA-8239-3A00CE592D5B}" type="datetimeFigureOut">
              <a:rPr lang="en-US" smtClean="0"/>
              <a:t>4/22/2026</a:t>
            </a:fld>
            <a:endParaRPr lang="en-US"/>
          </a:p>
        </p:txBody>
      </p:sp>
      <p:sp>
        <p:nvSpPr>
          <p:cNvPr id="5" name="Footer Placeholder 4">
            <a:extLst>
              <a:ext uri="{FF2B5EF4-FFF2-40B4-BE49-F238E27FC236}">
                <a16:creationId xmlns:a16="http://schemas.microsoft.com/office/drawing/2014/main" id="{6E5C2838-E955-75E9-6EE3-7F847A625E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DD405E-F8AE-928E-D793-C89B8931D32B}"/>
              </a:ext>
            </a:extLst>
          </p:cNvPr>
          <p:cNvSpPr>
            <a:spLocks noGrp="1"/>
          </p:cNvSpPr>
          <p:nvPr>
            <p:ph type="sldNum" sz="quarter" idx="12"/>
          </p:nvPr>
        </p:nvSpPr>
        <p:spPr/>
        <p:txBody>
          <a:bodyPr/>
          <a:lstStyle/>
          <a:p>
            <a:fld id="{8D15899F-91F4-4A32-B523-11ADE47A0750}" type="slidenum">
              <a:rPr lang="en-US" smtClean="0"/>
              <a:t>‹#›</a:t>
            </a:fld>
            <a:endParaRPr lang="en-US"/>
          </a:p>
        </p:txBody>
      </p:sp>
    </p:spTree>
    <p:extLst>
      <p:ext uri="{BB962C8B-B14F-4D97-AF65-F5344CB8AC3E}">
        <p14:creationId xmlns:p14="http://schemas.microsoft.com/office/powerpoint/2010/main" val="873679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6BE2B-5FF7-39E5-1171-1B5506A129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7A3171-F829-7BAD-FFA6-0B5802D387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A059768-1B03-47B5-9175-C202CE1CC93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E7A0B5-36DA-03DE-E347-06A14E78CD43}"/>
              </a:ext>
            </a:extLst>
          </p:cNvPr>
          <p:cNvSpPr>
            <a:spLocks noGrp="1"/>
          </p:cNvSpPr>
          <p:nvPr>
            <p:ph type="dt" sz="half" idx="10"/>
          </p:nvPr>
        </p:nvSpPr>
        <p:spPr/>
        <p:txBody>
          <a:bodyPr/>
          <a:lstStyle/>
          <a:p>
            <a:fld id="{22942750-2271-4ABA-8239-3A00CE592D5B}" type="datetimeFigureOut">
              <a:rPr lang="en-US" smtClean="0"/>
              <a:t>4/22/2026</a:t>
            </a:fld>
            <a:endParaRPr lang="en-US"/>
          </a:p>
        </p:txBody>
      </p:sp>
      <p:sp>
        <p:nvSpPr>
          <p:cNvPr id="6" name="Footer Placeholder 5">
            <a:extLst>
              <a:ext uri="{FF2B5EF4-FFF2-40B4-BE49-F238E27FC236}">
                <a16:creationId xmlns:a16="http://schemas.microsoft.com/office/drawing/2014/main" id="{DF4998C8-B002-F3BF-9CD5-5F50B2CA27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72B079-86A1-A66C-31D2-AC0CEF406889}"/>
              </a:ext>
            </a:extLst>
          </p:cNvPr>
          <p:cNvSpPr>
            <a:spLocks noGrp="1"/>
          </p:cNvSpPr>
          <p:nvPr>
            <p:ph type="sldNum" sz="quarter" idx="12"/>
          </p:nvPr>
        </p:nvSpPr>
        <p:spPr/>
        <p:txBody>
          <a:bodyPr/>
          <a:lstStyle/>
          <a:p>
            <a:fld id="{8D15899F-91F4-4A32-B523-11ADE47A0750}" type="slidenum">
              <a:rPr lang="en-US" smtClean="0"/>
              <a:t>‹#›</a:t>
            </a:fld>
            <a:endParaRPr lang="en-US"/>
          </a:p>
        </p:txBody>
      </p:sp>
    </p:spTree>
    <p:extLst>
      <p:ext uri="{BB962C8B-B14F-4D97-AF65-F5344CB8AC3E}">
        <p14:creationId xmlns:p14="http://schemas.microsoft.com/office/powerpoint/2010/main" val="12687494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9194F-A149-2304-6F7B-F0609E6DBAC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F4C71FB-EF3C-10CB-25EA-8F49642A6A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360BD9-F9A0-2674-AEFC-ADB914E8B0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AF74A20-F6CB-79C3-B122-6CAA85F3D5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C5EAD4-4771-C562-3FB4-6E17989EEE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010D30-9A33-FC28-0C00-1825965D2C4C}"/>
              </a:ext>
            </a:extLst>
          </p:cNvPr>
          <p:cNvSpPr>
            <a:spLocks noGrp="1"/>
          </p:cNvSpPr>
          <p:nvPr>
            <p:ph type="dt" sz="half" idx="10"/>
          </p:nvPr>
        </p:nvSpPr>
        <p:spPr/>
        <p:txBody>
          <a:bodyPr/>
          <a:lstStyle/>
          <a:p>
            <a:fld id="{22942750-2271-4ABA-8239-3A00CE592D5B}" type="datetimeFigureOut">
              <a:rPr lang="en-US" smtClean="0"/>
              <a:t>4/22/2026</a:t>
            </a:fld>
            <a:endParaRPr lang="en-US"/>
          </a:p>
        </p:txBody>
      </p:sp>
      <p:sp>
        <p:nvSpPr>
          <p:cNvPr id="8" name="Footer Placeholder 7">
            <a:extLst>
              <a:ext uri="{FF2B5EF4-FFF2-40B4-BE49-F238E27FC236}">
                <a16:creationId xmlns:a16="http://schemas.microsoft.com/office/drawing/2014/main" id="{15A9E852-601D-6055-9734-95F44902059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546BDF-4609-D3D6-E1AF-A3FCD4FD4308}"/>
              </a:ext>
            </a:extLst>
          </p:cNvPr>
          <p:cNvSpPr>
            <a:spLocks noGrp="1"/>
          </p:cNvSpPr>
          <p:nvPr>
            <p:ph type="sldNum" sz="quarter" idx="12"/>
          </p:nvPr>
        </p:nvSpPr>
        <p:spPr/>
        <p:txBody>
          <a:bodyPr/>
          <a:lstStyle/>
          <a:p>
            <a:fld id="{8D15899F-91F4-4A32-B523-11ADE47A0750}" type="slidenum">
              <a:rPr lang="en-US" smtClean="0"/>
              <a:t>‹#›</a:t>
            </a:fld>
            <a:endParaRPr lang="en-US"/>
          </a:p>
        </p:txBody>
      </p:sp>
    </p:spTree>
    <p:extLst>
      <p:ext uri="{BB962C8B-B14F-4D97-AF65-F5344CB8AC3E}">
        <p14:creationId xmlns:p14="http://schemas.microsoft.com/office/powerpoint/2010/main" val="440018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59620-8F24-EEAB-53A6-04AF1AF17D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EE0823-91D6-852E-9EF9-93511309B953}"/>
              </a:ext>
            </a:extLst>
          </p:cNvPr>
          <p:cNvSpPr>
            <a:spLocks noGrp="1"/>
          </p:cNvSpPr>
          <p:nvPr>
            <p:ph type="dt" sz="half" idx="10"/>
          </p:nvPr>
        </p:nvSpPr>
        <p:spPr/>
        <p:txBody>
          <a:bodyPr/>
          <a:lstStyle/>
          <a:p>
            <a:fld id="{22942750-2271-4ABA-8239-3A00CE592D5B}" type="datetimeFigureOut">
              <a:rPr lang="en-US" smtClean="0"/>
              <a:t>4/22/2026</a:t>
            </a:fld>
            <a:endParaRPr lang="en-US"/>
          </a:p>
        </p:txBody>
      </p:sp>
      <p:sp>
        <p:nvSpPr>
          <p:cNvPr id="4" name="Footer Placeholder 3">
            <a:extLst>
              <a:ext uri="{FF2B5EF4-FFF2-40B4-BE49-F238E27FC236}">
                <a16:creationId xmlns:a16="http://schemas.microsoft.com/office/drawing/2014/main" id="{5F612F7B-4ECB-CE33-EF14-92265B3AB24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65ED9BC-4DFB-D742-28A5-88E26E6901A1}"/>
              </a:ext>
            </a:extLst>
          </p:cNvPr>
          <p:cNvSpPr>
            <a:spLocks noGrp="1"/>
          </p:cNvSpPr>
          <p:nvPr>
            <p:ph type="sldNum" sz="quarter" idx="12"/>
          </p:nvPr>
        </p:nvSpPr>
        <p:spPr/>
        <p:txBody>
          <a:bodyPr/>
          <a:lstStyle/>
          <a:p>
            <a:fld id="{8D15899F-91F4-4A32-B523-11ADE47A0750}" type="slidenum">
              <a:rPr lang="en-US" smtClean="0"/>
              <a:t>‹#›</a:t>
            </a:fld>
            <a:endParaRPr lang="en-US"/>
          </a:p>
        </p:txBody>
      </p:sp>
    </p:spTree>
    <p:extLst>
      <p:ext uri="{BB962C8B-B14F-4D97-AF65-F5344CB8AC3E}">
        <p14:creationId xmlns:p14="http://schemas.microsoft.com/office/powerpoint/2010/main" val="19759744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BCCE7D-91D6-D284-82E8-9173E01BB940}"/>
              </a:ext>
            </a:extLst>
          </p:cNvPr>
          <p:cNvSpPr>
            <a:spLocks noGrp="1"/>
          </p:cNvSpPr>
          <p:nvPr>
            <p:ph type="dt" sz="half" idx="10"/>
          </p:nvPr>
        </p:nvSpPr>
        <p:spPr/>
        <p:txBody>
          <a:bodyPr/>
          <a:lstStyle/>
          <a:p>
            <a:fld id="{22942750-2271-4ABA-8239-3A00CE592D5B}" type="datetimeFigureOut">
              <a:rPr lang="en-US" smtClean="0"/>
              <a:t>4/22/2026</a:t>
            </a:fld>
            <a:endParaRPr lang="en-US"/>
          </a:p>
        </p:txBody>
      </p:sp>
      <p:sp>
        <p:nvSpPr>
          <p:cNvPr id="3" name="Footer Placeholder 2">
            <a:extLst>
              <a:ext uri="{FF2B5EF4-FFF2-40B4-BE49-F238E27FC236}">
                <a16:creationId xmlns:a16="http://schemas.microsoft.com/office/drawing/2014/main" id="{C9C1260B-3E68-70F6-967A-A3C24BB48A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9F05495-49D7-3CB1-6037-D35B1BCD8834}"/>
              </a:ext>
            </a:extLst>
          </p:cNvPr>
          <p:cNvSpPr>
            <a:spLocks noGrp="1"/>
          </p:cNvSpPr>
          <p:nvPr>
            <p:ph type="sldNum" sz="quarter" idx="12"/>
          </p:nvPr>
        </p:nvSpPr>
        <p:spPr/>
        <p:txBody>
          <a:bodyPr/>
          <a:lstStyle/>
          <a:p>
            <a:fld id="{8D15899F-91F4-4A32-B523-11ADE47A0750}" type="slidenum">
              <a:rPr lang="en-US" smtClean="0"/>
              <a:t>‹#›</a:t>
            </a:fld>
            <a:endParaRPr lang="en-US"/>
          </a:p>
        </p:txBody>
      </p:sp>
    </p:spTree>
    <p:extLst>
      <p:ext uri="{BB962C8B-B14F-4D97-AF65-F5344CB8AC3E}">
        <p14:creationId xmlns:p14="http://schemas.microsoft.com/office/powerpoint/2010/main" val="729778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40D18-A0D4-4587-AD89-EBD5DEB1C7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351EFE0-2417-4808-07BB-E268EA388F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0CE1CD6-E8BB-FF6A-7E6F-0F89AE21F1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8912A4-5E49-63E5-1290-62AB61EA2C3F}"/>
              </a:ext>
            </a:extLst>
          </p:cNvPr>
          <p:cNvSpPr>
            <a:spLocks noGrp="1"/>
          </p:cNvSpPr>
          <p:nvPr>
            <p:ph type="dt" sz="half" idx="10"/>
          </p:nvPr>
        </p:nvSpPr>
        <p:spPr/>
        <p:txBody>
          <a:bodyPr/>
          <a:lstStyle/>
          <a:p>
            <a:fld id="{22942750-2271-4ABA-8239-3A00CE592D5B}" type="datetimeFigureOut">
              <a:rPr lang="en-US" smtClean="0"/>
              <a:t>4/22/2026</a:t>
            </a:fld>
            <a:endParaRPr lang="en-US"/>
          </a:p>
        </p:txBody>
      </p:sp>
      <p:sp>
        <p:nvSpPr>
          <p:cNvPr id="6" name="Footer Placeholder 5">
            <a:extLst>
              <a:ext uri="{FF2B5EF4-FFF2-40B4-BE49-F238E27FC236}">
                <a16:creationId xmlns:a16="http://schemas.microsoft.com/office/drawing/2014/main" id="{A9D64168-9521-8CA1-3056-EEFD22D924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3EBB2E-40DF-8FD8-36BC-21A55C9BDFCF}"/>
              </a:ext>
            </a:extLst>
          </p:cNvPr>
          <p:cNvSpPr>
            <a:spLocks noGrp="1"/>
          </p:cNvSpPr>
          <p:nvPr>
            <p:ph type="sldNum" sz="quarter" idx="12"/>
          </p:nvPr>
        </p:nvSpPr>
        <p:spPr/>
        <p:txBody>
          <a:bodyPr/>
          <a:lstStyle/>
          <a:p>
            <a:fld id="{8D15899F-91F4-4A32-B523-11ADE47A0750}" type="slidenum">
              <a:rPr lang="en-US" smtClean="0"/>
              <a:t>‹#›</a:t>
            </a:fld>
            <a:endParaRPr lang="en-US"/>
          </a:p>
        </p:txBody>
      </p:sp>
    </p:spTree>
    <p:extLst>
      <p:ext uri="{BB962C8B-B14F-4D97-AF65-F5344CB8AC3E}">
        <p14:creationId xmlns:p14="http://schemas.microsoft.com/office/powerpoint/2010/main" val="3406968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4B606-5D90-E9AE-933D-3AD10DD53D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AEC940-88FD-3563-8EAE-B855F0CF6A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E0C2333-CD91-C3F3-AC21-B297EAFF9D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D4D492-CFF0-D263-ED79-1ADE5DBE6F0B}"/>
              </a:ext>
            </a:extLst>
          </p:cNvPr>
          <p:cNvSpPr>
            <a:spLocks noGrp="1"/>
          </p:cNvSpPr>
          <p:nvPr>
            <p:ph type="dt" sz="half" idx="10"/>
          </p:nvPr>
        </p:nvSpPr>
        <p:spPr/>
        <p:txBody>
          <a:bodyPr/>
          <a:lstStyle/>
          <a:p>
            <a:fld id="{22942750-2271-4ABA-8239-3A00CE592D5B}" type="datetimeFigureOut">
              <a:rPr lang="en-US" smtClean="0"/>
              <a:t>4/22/2026</a:t>
            </a:fld>
            <a:endParaRPr lang="en-US"/>
          </a:p>
        </p:txBody>
      </p:sp>
      <p:sp>
        <p:nvSpPr>
          <p:cNvPr id="6" name="Footer Placeholder 5">
            <a:extLst>
              <a:ext uri="{FF2B5EF4-FFF2-40B4-BE49-F238E27FC236}">
                <a16:creationId xmlns:a16="http://schemas.microsoft.com/office/drawing/2014/main" id="{E7498256-DF34-047E-5FCB-ED9051BD82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29B793-5C18-7262-A227-33BDE7C84A31}"/>
              </a:ext>
            </a:extLst>
          </p:cNvPr>
          <p:cNvSpPr>
            <a:spLocks noGrp="1"/>
          </p:cNvSpPr>
          <p:nvPr>
            <p:ph type="sldNum" sz="quarter" idx="12"/>
          </p:nvPr>
        </p:nvSpPr>
        <p:spPr/>
        <p:txBody>
          <a:bodyPr/>
          <a:lstStyle/>
          <a:p>
            <a:fld id="{8D15899F-91F4-4A32-B523-11ADE47A0750}" type="slidenum">
              <a:rPr lang="en-US" smtClean="0"/>
              <a:t>‹#›</a:t>
            </a:fld>
            <a:endParaRPr lang="en-US"/>
          </a:p>
        </p:txBody>
      </p:sp>
    </p:spTree>
    <p:extLst>
      <p:ext uri="{BB962C8B-B14F-4D97-AF65-F5344CB8AC3E}">
        <p14:creationId xmlns:p14="http://schemas.microsoft.com/office/powerpoint/2010/main" val="2041560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76F2A-4238-43C8-B131-32826579CF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3DEF1CD-4618-3C37-BB45-BD3A464FE1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D641F3-34B6-772A-EBBA-F09A33575012}"/>
              </a:ext>
            </a:extLst>
          </p:cNvPr>
          <p:cNvSpPr>
            <a:spLocks noGrp="1"/>
          </p:cNvSpPr>
          <p:nvPr>
            <p:ph type="dt" sz="half" idx="10"/>
          </p:nvPr>
        </p:nvSpPr>
        <p:spPr/>
        <p:txBody>
          <a:bodyPr/>
          <a:lstStyle/>
          <a:p>
            <a:fld id="{22942750-2271-4ABA-8239-3A00CE592D5B}" type="datetimeFigureOut">
              <a:rPr lang="en-US" smtClean="0"/>
              <a:t>4/22/2026</a:t>
            </a:fld>
            <a:endParaRPr lang="en-US"/>
          </a:p>
        </p:txBody>
      </p:sp>
      <p:sp>
        <p:nvSpPr>
          <p:cNvPr id="5" name="Footer Placeholder 4">
            <a:extLst>
              <a:ext uri="{FF2B5EF4-FFF2-40B4-BE49-F238E27FC236}">
                <a16:creationId xmlns:a16="http://schemas.microsoft.com/office/drawing/2014/main" id="{BC46337B-F4D3-3689-EBD7-FD17D4686E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EAD98B-6C82-D91F-5C65-00B0DEB032F9}"/>
              </a:ext>
            </a:extLst>
          </p:cNvPr>
          <p:cNvSpPr>
            <a:spLocks noGrp="1"/>
          </p:cNvSpPr>
          <p:nvPr>
            <p:ph type="sldNum" sz="quarter" idx="12"/>
          </p:nvPr>
        </p:nvSpPr>
        <p:spPr/>
        <p:txBody>
          <a:bodyPr/>
          <a:lstStyle/>
          <a:p>
            <a:fld id="{8D15899F-91F4-4A32-B523-11ADE47A0750}" type="slidenum">
              <a:rPr lang="en-US" smtClean="0"/>
              <a:t>‹#›</a:t>
            </a:fld>
            <a:endParaRPr lang="en-US"/>
          </a:p>
        </p:txBody>
      </p:sp>
    </p:spTree>
    <p:extLst>
      <p:ext uri="{BB962C8B-B14F-4D97-AF65-F5344CB8AC3E}">
        <p14:creationId xmlns:p14="http://schemas.microsoft.com/office/powerpoint/2010/main" val="1692647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F72BC6-4102-7557-A18D-F5450C584BC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A27D2C-3AA7-55B2-33C3-336942346E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1B9627-CA77-5D87-E335-A0BE34CBDEB6}"/>
              </a:ext>
            </a:extLst>
          </p:cNvPr>
          <p:cNvSpPr>
            <a:spLocks noGrp="1"/>
          </p:cNvSpPr>
          <p:nvPr>
            <p:ph type="dt" sz="half" idx="10"/>
          </p:nvPr>
        </p:nvSpPr>
        <p:spPr/>
        <p:txBody>
          <a:bodyPr/>
          <a:lstStyle/>
          <a:p>
            <a:fld id="{22942750-2271-4ABA-8239-3A00CE592D5B}" type="datetimeFigureOut">
              <a:rPr lang="en-US" smtClean="0"/>
              <a:t>4/22/2026</a:t>
            </a:fld>
            <a:endParaRPr lang="en-US"/>
          </a:p>
        </p:txBody>
      </p:sp>
      <p:sp>
        <p:nvSpPr>
          <p:cNvPr id="5" name="Footer Placeholder 4">
            <a:extLst>
              <a:ext uri="{FF2B5EF4-FFF2-40B4-BE49-F238E27FC236}">
                <a16:creationId xmlns:a16="http://schemas.microsoft.com/office/drawing/2014/main" id="{74588263-83CA-1032-9BAF-EB6CCB3DF1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7C7901-F636-17C9-9C33-CC18DCE788D8}"/>
              </a:ext>
            </a:extLst>
          </p:cNvPr>
          <p:cNvSpPr>
            <a:spLocks noGrp="1"/>
          </p:cNvSpPr>
          <p:nvPr>
            <p:ph type="sldNum" sz="quarter" idx="12"/>
          </p:nvPr>
        </p:nvSpPr>
        <p:spPr/>
        <p:txBody>
          <a:bodyPr/>
          <a:lstStyle/>
          <a:p>
            <a:fld id="{8D15899F-91F4-4A32-B523-11ADE47A0750}" type="slidenum">
              <a:rPr lang="en-US" smtClean="0"/>
              <a:t>‹#›</a:t>
            </a:fld>
            <a:endParaRPr lang="en-US"/>
          </a:p>
        </p:txBody>
      </p:sp>
    </p:spTree>
    <p:extLst>
      <p:ext uri="{BB962C8B-B14F-4D97-AF65-F5344CB8AC3E}">
        <p14:creationId xmlns:p14="http://schemas.microsoft.com/office/powerpoint/2010/main" val="912609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547452-2443-AE4E-E8BC-565436850E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F95203-EB6E-AE25-804A-B1887949B1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8A338C-E11A-E829-90EA-7A8BB79D80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942750-2271-4ABA-8239-3A00CE592D5B}" type="datetimeFigureOut">
              <a:rPr lang="en-US" smtClean="0"/>
              <a:t>4/22/2026</a:t>
            </a:fld>
            <a:endParaRPr lang="en-US"/>
          </a:p>
        </p:txBody>
      </p:sp>
      <p:sp>
        <p:nvSpPr>
          <p:cNvPr id="5" name="Footer Placeholder 4">
            <a:extLst>
              <a:ext uri="{FF2B5EF4-FFF2-40B4-BE49-F238E27FC236}">
                <a16:creationId xmlns:a16="http://schemas.microsoft.com/office/drawing/2014/main" id="{6184BD4B-92F0-A349-CEC4-8B916329167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C6E1856-5010-BD7F-34F9-7084DEA1B5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15899F-91F4-4A32-B523-11ADE47A0750}" type="slidenum">
              <a:rPr lang="en-US" smtClean="0"/>
              <a:t>‹#›</a:t>
            </a:fld>
            <a:endParaRPr lang="en-US"/>
          </a:p>
        </p:txBody>
      </p:sp>
    </p:spTree>
    <p:extLst>
      <p:ext uri="{BB962C8B-B14F-4D97-AF65-F5344CB8AC3E}">
        <p14:creationId xmlns:p14="http://schemas.microsoft.com/office/powerpoint/2010/main" val="14148412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2DA6685-C3AA-D37C-8AA5-70A7AEEC19E6}"/>
              </a:ext>
            </a:extLst>
          </p:cNvPr>
          <p:cNvSpPr>
            <a:spLocks noGrp="1"/>
          </p:cNvSpPr>
          <p:nvPr>
            <p:ph type="ctrTitle"/>
          </p:nvPr>
        </p:nvSpPr>
        <p:spPr>
          <a:xfrm>
            <a:off x="1386865" y="818984"/>
            <a:ext cx="6596245" cy="3268520"/>
          </a:xfrm>
        </p:spPr>
        <p:txBody>
          <a:bodyPr>
            <a:normAutofit/>
          </a:bodyPr>
          <a:lstStyle/>
          <a:p>
            <a:pPr algn="r"/>
            <a:r>
              <a:rPr lang="en-US" sz="4800" dirty="0">
                <a:solidFill>
                  <a:srgbClr val="FFFFFF"/>
                </a:solidFill>
                <a:latin typeface="Times New Roman" panose="02020603050405020304" pitchFamily="18" charset="0"/>
                <a:cs typeface="Times New Roman" panose="02020603050405020304" pitchFamily="18" charset="0"/>
              </a:rPr>
              <a:t>Short-Term Reversal Strategy with Risk Adjustments </a:t>
            </a: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D07A0316-B91C-0850-2CD6-A637B33539F7}"/>
              </a:ext>
            </a:extLst>
          </p:cNvPr>
          <p:cNvSpPr>
            <a:spLocks noGrp="1"/>
          </p:cNvSpPr>
          <p:nvPr>
            <p:ph type="subTitle" idx="1"/>
          </p:nvPr>
        </p:nvSpPr>
        <p:spPr>
          <a:xfrm>
            <a:off x="1931874" y="4797188"/>
            <a:ext cx="6051236" cy="1241828"/>
          </a:xfrm>
        </p:spPr>
        <p:txBody>
          <a:bodyPr>
            <a:normAutofit/>
          </a:bodyPr>
          <a:lstStyle/>
          <a:p>
            <a:pPr algn="r"/>
            <a:r>
              <a:rPr lang="en-US" sz="2000" dirty="0">
                <a:solidFill>
                  <a:srgbClr val="FFFFFF"/>
                </a:solidFill>
                <a:latin typeface="Times New Roman" panose="02020603050405020304" pitchFamily="18" charset="0"/>
                <a:cs typeface="Times New Roman" panose="02020603050405020304" pitchFamily="18" charset="0"/>
              </a:rPr>
              <a:t>Rafael Dias de Souza </a:t>
            </a:r>
          </a:p>
          <a:p>
            <a:pPr algn="r"/>
            <a:r>
              <a:rPr lang="en-US" sz="2000" dirty="0">
                <a:solidFill>
                  <a:srgbClr val="FFFFFF"/>
                </a:solidFill>
                <a:latin typeface="Times New Roman" panose="02020603050405020304" pitchFamily="18" charset="0"/>
                <a:cs typeface="Times New Roman" panose="02020603050405020304" pitchFamily="18" charset="0"/>
              </a:rPr>
              <a:t>Fin 7053 </a:t>
            </a:r>
          </a:p>
          <a:p>
            <a:pPr algn="r"/>
            <a:r>
              <a:rPr lang="en-US" sz="2000" dirty="0">
                <a:solidFill>
                  <a:srgbClr val="FFFFFF"/>
                </a:solidFill>
                <a:latin typeface="Times New Roman" panose="02020603050405020304" pitchFamily="18" charset="0"/>
                <a:cs typeface="Times New Roman" panose="02020603050405020304" pitchFamily="18" charset="0"/>
              </a:rPr>
              <a:t>Algorithmic Trading: Final Project</a:t>
            </a: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1097851"/>
      </p:ext>
    </p:extLst>
  </p:cSld>
  <p:clrMapOvr>
    <a:masterClrMapping/>
  </p:clrMapOvr>
  <mc:AlternateContent xmlns:mc="http://schemas.openxmlformats.org/markup-compatibility/2006" xmlns:p14="http://schemas.microsoft.com/office/powerpoint/2010/main">
    <mc:Choice Requires="p14">
      <p:transition spd="slow" p14:dur="2000" advTm="17630"/>
    </mc:Choice>
    <mc:Fallback xmlns="">
      <p:transition spd="slow" advTm="1763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 name="Rectangle 52">
            <a:extLst>
              <a:ext uri="{FF2B5EF4-FFF2-40B4-BE49-F238E27FC236}">
                <a16:creationId xmlns:a16="http://schemas.microsoft.com/office/drawing/2014/main" id="{A8DC20BE-2EE3-423E-8873-7E684D033F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AA693EB7-865B-49B6-B0F4-7D3289D18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 name="Group 60">
            <a:extLst>
              <a:ext uri="{FF2B5EF4-FFF2-40B4-BE49-F238E27FC236}">
                <a16:creationId xmlns:a16="http://schemas.microsoft.com/office/drawing/2014/main" id="{D319511D-8951-4C0E-A98B-0B070288FE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47" name="Oval 46">
              <a:extLst>
                <a:ext uri="{FF2B5EF4-FFF2-40B4-BE49-F238E27FC236}">
                  <a16:creationId xmlns:a16="http://schemas.microsoft.com/office/drawing/2014/main" id="{E94F28A5-172A-481A-818A-BEBB655CA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6C84E780-BE3B-4240-9EA0-F435AE760F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9B59A592-D2CE-40BE-B3E1-1B8D16F67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E99B7A38-17B0-4FB6-8DC2-568C4655A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Oval 50">
              <a:extLst>
                <a:ext uri="{FF2B5EF4-FFF2-40B4-BE49-F238E27FC236}">
                  <a16:creationId xmlns:a16="http://schemas.microsoft.com/office/drawing/2014/main" id="{FF4C7269-B196-486D-A47F-77BB23AAE9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ED89A2E8-95F8-4827-9432-1AA7E82579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 name="Rectangle 53">
            <a:extLst>
              <a:ext uri="{FF2B5EF4-FFF2-40B4-BE49-F238E27FC236}">
                <a16:creationId xmlns:a16="http://schemas.microsoft.com/office/drawing/2014/main" id="{F3856C81-415E-484F-93E4-C329F454D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CC95D42B-FBF3-4C81-8FD4-CBED235411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57" name="Straight Connector 56">
              <a:extLst>
                <a:ext uri="{FF2B5EF4-FFF2-40B4-BE49-F238E27FC236}">
                  <a16:creationId xmlns:a16="http://schemas.microsoft.com/office/drawing/2014/main" id="{F9A2762D-96C8-43A9-8FB4-B893A422FDC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80D8D0F-A2C7-4629-B042-A99DF4CD1F0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AA066E0-8819-4B74-B577-4F86B6ACB3D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86822E5-6B0C-4271-AAEB-6E5B9AB9B88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62" name="Group 61">
            <a:extLst>
              <a:ext uri="{FF2B5EF4-FFF2-40B4-BE49-F238E27FC236}">
                <a16:creationId xmlns:a16="http://schemas.microsoft.com/office/drawing/2014/main" id="{18639AD1-4D74-4424-B02C-50AAADBE060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877278" y="4945279"/>
            <a:ext cx="1285875" cy="549007"/>
            <a:chOff x="7029447" y="3514725"/>
            <a:chExt cx="1285875" cy="549007"/>
          </a:xfrm>
        </p:grpSpPr>
        <p:cxnSp>
          <p:nvCxnSpPr>
            <p:cNvPr id="63" name="Straight Connector 62">
              <a:extLst>
                <a:ext uri="{FF2B5EF4-FFF2-40B4-BE49-F238E27FC236}">
                  <a16:creationId xmlns:a16="http://schemas.microsoft.com/office/drawing/2014/main" id="{741F3A5D-026C-48FF-BE29-DFBA51A9173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5E9F231-9EEC-48FA-BD74-DF5FBF7354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EA3E55D-272D-4836-BF1B-B46C0248A07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9887AC4-55DC-42D7-B003-76ED4B52D0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20000"/>
                    </a:schemeClr>
                  </a:gs>
                  <a:gs pos="100000">
                    <a:schemeClr val="tx2">
                      <a:lumMod val="50000"/>
                      <a:alpha val="2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68" name="Rectangle 67">
            <a:extLst>
              <a:ext uri="{FF2B5EF4-FFF2-40B4-BE49-F238E27FC236}">
                <a16:creationId xmlns:a16="http://schemas.microsoft.com/office/drawing/2014/main" id="{B29481A6-9A3B-4120-9C9D-8BD206C929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0" name="Group 69">
            <a:extLst>
              <a:ext uri="{FF2B5EF4-FFF2-40B4-BE49-F238E27FC236}">
                <a16:creationId xmlns:a16="http://schemas.microsoft.com/office/drawing/2014/main" id="{54E220D0-6FEB-4727-960C-B637712D71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71" name="Straight Connector 70">
              <a:extLst>
                <a:ext uri="{FF2B5EF4-FFF2-40B4-BE49-F238E27FC236}">
                  <a16:creationId xmlns:a16="http://schemas.microsoft.com/office/drawing/2014/main" id="{30854E48-F0D5-4C38-80CF-950BE37A8F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6529B87-72DD-45B8-89EC-6358F867854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3A5B663B-04AC-4C76-A8D2-80D94C33A6E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0BB4FF8E-FA13-4808-9658-DC67573F79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F0D21CB-C3CE-F7A6-C21B-8D712C674187}"/>
              </a:ext>
            </a:extLst>
          </p:cNvPr>
          <p:cNvSpPr>
            <a:spLocks noGrp="1"/>
          </p:cNvSpPr>
          <p:nvPr>
            <p:ph type="title"/>
          </p:nvPr>
        </p:nvSpPr>
        <p:spPr>
          <a:xfrm>
            <a:off x="630936" y="630935"/>
            <a:ext cx="4979721" cy="5481275"/>
          </a:xfrm>
          <a:noFill/>
        </p:spPr>
        <p:txBody>
          <a:bodyPr vert="horz" lIns="91440" tIns="45720" rIns="91440" bIns="45720" rtlCol="0" anchor="t">
            <a:normAutofit fontScale="90000"/>
          </a:bodyPr>
          <a:lstStyle/>
          <a:p>
            <a:r>
              <a:rPr lang="en-US" sz="2300" kern="1200" dirty="0">
                <a:solidFill>
                  <a:schemeClr val="bg1"/>
                </a:solidFill>
                <a:latin typeface="Times New Roman" panose="02020603050405020304" pitchFamily="18" charset="0"/>
                <a:cs typeface="Times New Roman" panose="02020603050405020304" pitchFamily="18" charset="0"/>
              </a:rPr>
              <a:t>Financial markets are not perfectly efficient in the short run. Behavioral biases often lead investors to overreact to recent information, pushing prices away from their fundamental values.</a:t>
            </a:r>
            <a:br>
              <a:rPr lang="en-US" sz="2300" kern="1200" dirty="0">
                <a:solidFill>
                  <a:schemeClr val="bg1"/>
                </a:solidFill>
                <a:latin typeface="Times New Roman" panose="02020603050405020304" pitchFamily="18" charset="0"/>
                <a:cs typeface="Times New Roman" panose="02020603050405020304" pitchFamily="18" charset="0"/>
              </a:rPr>
            </a:br>
            <a:br>
              <a:rPr lang="en-US" sz="2300" kern="1200" dirty="0">
                <a:solidFill>
                  <a:schemeClr val="bg1"/>
                </a:solidFill>
                <a:latin typeface="Times New Roman" panose="02020603050405020304" pitchFamily="18" charset="0"/>
                <a:cs typeface="Times New Roman" panose="02020603050405020304" pitchFamily="18" charset="0"/>
              </a:rPr>
            </a:br>
            <a:br>
              <a:rPr lang="en-US" sz="2300" kern="1200" dirty="0">
                <a:solidFill>
                  <a:schemeClr val="bg1"/>
                </a:solidFill>
                <a:latin typeface="Times New Roman" panose="02020603050405020304" pitchFamily="18" charset="0"/>
                <a:cs typeface="Times New Roman" panose="02020603050405020304" pitchFamily="18" charset="0"/>
              </a:rPr>
            </a:br>
            <a:r>
              <a:rPr lang="en-US" sz="2300" b="1" kern="1200" dirty="0">
                <a:solidFill>
                  <a:schemeClr val="bg1"/>
                </a:solidFill>
                <a:latin typeface="Times New Roman" panose="02020603050405020304" pitchFamily="18" charset="0"/>
                <a:cs typeface="Times New Roman" panose="02020603050405020304" pitchFamily="18" charset="0"/>
              </a:rPr>
              <a:t>As a result:</a:t>
            </a:r>
            <a:br>
              <a:rPr lang="en-US" sz="2300" b="1" kern="1200" dirty="0">
                <a:solidFill>
                  <a:schemeClr val="bg1"/>
                </a:solidFill>
                <a:latin typeface="Times New Roman" panose="02020603050405020304" pitchFamily="18" charset="0"/>
                <a:cs typeface="Times New Roman" panose="02020603050405020304" pitchFamily="18" charset="0"/>
              </a:rPr>
            </a:br>
            <a:r>
              <a:rPr lang="en-US" sz="2300" kern="1200" dirty="0">
                <a:solidFill>
                  <a:schemeClr val="bg1"/>
                </a:solidFill>
                <a:latin typeface="Times New Roman" panose="02020603050405020304" pitchFamily="18" charset="0"/>
                <a:cs typeface="Times New Roman" panose="02020603050405020304" pitchFamily="18" charset="0"/>
              </a:rPr>
              <a:t>1. Recent losers may become undervalued </a:t>
            </a:r>
            <a:br>
              <a:rPr lang="en-US" sz="2300" kern="1200" dirty="0">
                <a:solidFill>
                  <a:schemeClr val="bg1"/>
                </a:solidFill>
                <a:latin typeface="Times New Roman" panose="02020603050405020304" pitchFamily="18" charset="0"/>
                <a:cs typeface="Times New Roman" panose="02020603050405020304" pitchFamily="18" charset="0"/>
              </a:rPr>
            </a:br>
            <a:r>
              <a:rPr lang="en-US" sz="2300" kern="1200" dirty="0">
                <a:solidFill>
                  <a:schemeClr val="bg1"/>
                </a:solidFill>
                <a:latin typeface="Times New Roman" panose="02020603050405020304" pitchFamily="18" charset="0"/>
                <a:cs typeface="Times New Roman" panose="02020603050405020304" pitchFamily="18" charset="0"/>
              </a:rPr>
              <a:t>2. Recent winners may become overvalued </a:t>
            </a:r>
            <a:br>
              <a:rPr lang="en-US" sz="2300" kern="1200" dirty="0">
                <a:solidFill>
                  <a:schemeClr val="bg1"/>
                </a:solidFill>
                <a:latin typeface="Times New Roman" panose="02020603050405020304" pitchFamily="18" charset="0"/>
                <a:cs typeface="Times New Roman" panose="02020603050405020304" pitchFamily="18" charset="0"/>
              </a:rPr>
            </a:br>
            <a:br>
              <a:rPr lang="en-US" sz="2300" kern="1200" dirty="0">
                <a:solidFill>
                  <a:schemeClr val="bg1"/>
                </a:solidFill>
                <a:latin typeface="Times New Roman" panose="02020603050405020304" pitchFamily="18" charset="0"/>
                <a:cs typeface="Times New Roman" panose="02020603050405020304" pitchFamily="18" charset="0"/>
              </a:rPr>
            </a:br>
            <a:br>
              <a:rPr lang="en-US" sz="2300" kern="1200" dirty="0">
                <a:solidFill>
                  <a:schemeClr val="bg1"/>
                </a:solidFill>
                <a:latin typeface="Times New Roman" panose="02020603050405020304" pitchFamily="18" charset="0"/>
                <a:cs typeface="Times New Roman" panose="02020603050405020304" pitchFamily="18" charset="0"/>
              </a:rPr>
            </a:br>
            <a:r>
              <a:rPr lang="en-US" sz="2300" b="1" kern="1200" dirty="0">
                <a:solidFill>
                  <a:schemeClr val="bg1"/>
                </a:solidFill>
                <a:latin typeface="Times New Roman" panose="02020603050405020304" pitchFamily="18" charset="0"/>
                <a:cs typeface="Times New Roman" panose="02020603050405020304" pitchFamily="18" charset="0"/>
              </a:rPr>
              <a:t>This creates an opportunity for a systematic strategy that:</a:t>
            </a:r>
            <a:br>
              <a:rPr lang="en-US" sz="2300" b="1" kern="1200" dirty="0">
                <a:solidFill>
                  <a:schemeClr val="bg1"/>
                </a:solidFill>
                <a:latin typeface="Times New Roman" panose="02020603050405020304" pitchFamily="18" charset="0"/>
                <a:cs typeface="Times New Roman" panose="02020603050405020304" pitchFamily="18" charset="0"/>
              </a:rPr>
            </a:br>
            <a:r>
              <a:rPr lang="en-US" sz="2300" kern="1200" dirty="0">
                <a:solidFill>
                  <a:schemeClr val="bg1"/>
                </a:solidFill>
                <a:latin typeface="Times New Roman" panose="02020603050405020304" pitchFamily="18" charset="0"/>
                <a:cs typeface="Times New Roman" panose="02020603050405020304" pitchFamily="18" charset="0"/>
              </a:rPr>
              <a:t>- Buys past losers </a:t>
            </a:r>
            <a:br>
              <a:rPr lang="en-US" sz="2300" kern="1200" dirty="0">
                <a:solidFill>
                  <a:schemeClr val="bg1"/>
                </a:solidFill>
                <a:latin typeface="Times New Roman" panose="02020603050405020304" pitchFamily="18" charset="0"/>
                <a:cs typeface="Times New Roman" panose="02020603050405020304" pitchFamily="18" charset="0"/>
              </a:rPr>
            </a:br>
            <a:r>
              <a:rPr lang="en-US" sz="2300" kern="1200" dirty="0">
                <a:solidFill>
                  <a:schemeClr val="bg1"/>
                </a:solidFill>
                <a:latin typeface="Times New Roman" panose="02020603050405020304" pitchFamily="18" charset="0"/>
                <a:cs typeface="Times New Roman" panose="02020603050405020304" pitchFamily="18" charset="0"/>
              </a:rPr>
              <a:t>- Sells past winners </a:t>
            </a:r>
            <a:br>
              <a:rPr lang="en-US" sz="2300" kern="1200" dirty="0">
                <a:solidFill>
                  <a:schemeClr val="bg1"/>
                </a:solidFill>
                <a:latin typeface="Times New Roman" panose="02020603050405020304" pitchFamily="18" charset="0"/>
                <a:cs typeface="Times New Roman" panose="02020603050405020304" pitchFamily="18" charset="0"/>
              </a:rPr>
            </a:br>
            <a:r>
              <a:rPr lang="en-US" sz="2300" kern="1200" dirty="0">
                <a:solidFill>
                  <a:schemeClr val="bg1"/>
                </a:solidFill>
                <a:latin typeface="Times New Roman" panose="02020603050405020304" pitchFamily="18" charset="0"/>
                <a:cs typeface="Times New Roman" panose="02020603050405020304" pitchFamily="18" charset="0"/>
              </a:rPr>
              <a:t>- Profits from mean reversion in prices</a:t>
            </a:r>
            <a:br>
              <a:rPr lang="en-US" sz="2300" kern="1200" dirty="0">
                <a:solidFill>
                  <a:schemeClr val="bg1"/>
                </a:solidFill>
                <a:latin typeface="Times New Roman" panose="02020603050405020304" pitchFamily="18" charset="0"/>
                <a:cs typeface="Times New Roman" panose="02020603050405020304" pitchFamily="18" charset="0"/>
              </a:rPr>
            </a:br>
            <a:br>
              <a:rPr lang="en-US" sz="2300" kern="1200" dirty="0">
                <a:solidFill>
                  <a:schemeClr val="bg1"/>
                </a:solidFill>
                <a:latin typeface="Times New Roman" panose="02020603050405020304" pitchFamily="18" charset="0"/>
                <a:cs typeface="Times New Roman" panose="02020603050405020304" pitchFamily="18" charset="0"/>
              </a:rPr>
            </a:br>
            <a:endParaRPr lang="en-US" sz="2300" kern="1200"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16AD836-6D67-EB62-80C3-DFDD0048A820}"/>
              </a:ext>
            </a:extLst>
          </p:cNvPr>
          <p:cNvSpPr txBox="1"/>
          <p:nvPr/>
        </p:nvSpPr>
        <p:spPr>
          <a:xfrm>
            <a:off x="6143158" y="630935"/>
            <a:ext cx="5266365" cy="2324167"/>
          </a:xfrm>
          <a:prstGeom prst="rect">
            <a:avLst/>
          </a:prstGeom>
          <a:noFill/>
        </p:spPr>
        <p:txBody>
          <a:bodyPr vert="horz" lIns="91440" tIns="45720" rIns="91440" bIns="45720" rtlCol="0" anchor="t">
            <a:normAutofit/>
          </a:bodyPr>
          <a:lstStyle/>
          <a:p>
            <a:pPr>
              <a:lnSpc>
                <a:spcPct val="90000"/>
              </a:lnSpc>
              <a:spcBef>
                <a:spcPts val="1000"/>
              </a:spcBef>
            </a:pPr>
            <a:r>
              <a:rPr lang="en-US" sz="3200" kern="1200" dirty="0">
                <a:solidFill>
                  <a:schemeClr val="bg1"/>
                </a:solidFill>
                <a:latin typeface="Times New Roman" panose="02020603050405020304" pitchFamily="18" charset="0"/>
                <a:cs typeface="Times New Roman" panose="02020603050405020304" pitchFamily="18" charset="0"/>
              </a:rPr>
              <a:t>Strategy Overview </a:t>
            </a:r>
          </a:p>
        </p:txBody>
      </p:sp>
      <p:pic>
        <p:nvPicPr>
          <p:cNvPr id="6" name="Picture 5">
            <a:extLst>
              <a:ext uri="{FF2B5EF4-FFF2-40B4-BE49-F238E27FC236}">
                <a16:creationId xmlns:a16="http://schemas.microsoft.com/office/drawing/2014/main" id="{D3CEDE05-AF59-75AD-4280-211A8A3CC401}"/>
              </a:ext>
            </a:extLst>
          </p:cNvPr>
          <p:cNvPicPr>
            <a:picLocks noChangeAspect="1"/>
          </p:cNvPicPr>
          <p:nvPr/>
        </p:nvPicPr>
        <p:blipFill>
          <a:blip r:embed="rId3"/>
          <a:stretch>
            <a:fillRect/>
          </a:stretch>
        </p:blipFill>
        <p:spPr>
          <a:xfrm>
            <a:off x="6147296" y="3114121"/>
            <a:ext cx="5333454" cy="2993265"/>
          </a:xfrm>
          <a:prstGeom prst="rect">
            <a:avLst/>
          </a:prstGeom>
        </p:spPr>
      </p:pic>
      <p:grpSp>
        <p:nvGrpSpPr>
          <p:cNvPr id="76" name="Group 75">
            <a:extLst>
              <a:ext uri="{FF2B5EF4-FFF2-40B4-BE49-F238E27FC236}">
                <a16:creationId xmlns:a16="http://schemas.microsoft.com/office/drawing/2014/main" id="{1D788327-7D9D-4E47-846F-020A8F5E238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6009063" y="3253797"/>
            <a:ext cx="304800" cy="429768"/>
            <a:chOff x="215328" y="-46937"/>
            <a:chExt cx="304800" cy="2773841"/>
          </a:xfrm>
        </p:grpSpPr>
        <p:cxnSp>
          <p:nvCxnSpPr>
            <p:cNvPr id="77" name="Straight Connector 76">
              <a:extLst>
                <a:ext uri="{FF2B5EF4-FFF2-40B4-BE49-F238E27FC236}">
                  <a16:creationId xmlns:a16="http://schemas.microsoft.com/office/drawing/2014/main" id="{AB903337-D6B8-41EE-B6A3-4329C8D8E77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F0D28A68-745E-44CC-A29E-0EB13A84424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3B18D645-DE9C-49EB-85CC-C1008579763D}"/>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C7BB3B1F-5029-47B9-B1A5-2469BF49DB8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42134212"/>
      </p:ext>
    </p:extLst>
  </p:cSld>
  <p:clrMapOvr>
    <a:masterClrMapping/>
  </p:clrMapOvr>
  <mc:AlternateContent xmlns:mc="http://schemas.openxmlformats.org/markup-compatibility/2006" xmlns:p14="http://schemas.microsoft.com/office/powerpoint/2010/main">
    <mc:Choice Requires="p14">
      <p:transition spd="slow" p14:dur="2000" advTm="86361"/>
    </mc:Choice>
    <mc:Fallback xmlns="">
      <p:transition spd="slow" advTm="8636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FFE66AD-E566-5C55-520A-2648E6A517A6}"/>
              </a:ext>
            </a:extLst>
          </p:cNvPr>
          <p:cNvSpPr>
            <a:spLocks noGrp="1"/>
          </p:cNvSpPr>
          <p:nvPr>
            <p:ph type="title"/>
          </p:nvPr>
        </p:nvSpPr>
        <p:spPr>
          <a:xfrm>
            <a:off x="773206" y="977081"/>
            <a:ext cx="4747280" cy="3498334"/>
          </a:xfrm>
        </p:spPr>
        <p:txBody>
          <a:bodyPr vert="horz" lIns="91440" tIns="45720" rIns="91440" bIns="45720" rtlCol="0" anchor="b">
            <a:normAutofit fontScale="90000"/>
          </a:bodyPr>
          <a:lstStyle/>
          <a:p>
            <a:r>
              <a:rPr lang="en-US" sz="1800" b="1" kern="1200" dirty="0">
                <a:solidFill>
                  <a:srgbClr val="FFFFFF"/>
                </a:solidFill>
                <a:latin typeface="Times New Roman" panose="02020603050405020304" pitchFamily="18" charset="0"/>
                <a:cs typeface="Times New Roman" panose="02020603050405020304" pitchFamily="18" charset="0"/>
              </a:rPr>
              <a:t>The trading signal is constructed using past returns:</a:t>
            </a:r>
            <a:br>
              <a:rPr lang="en-US" sz="1800" b="1" kern="1200" dirty="0">
                <a:solidFill>
                  <a:srgbClr val="FFFFFF"/>
                </a:solidFill>
                <a:latin typeface="Times New Roman" panose="02020603050405020304" pitchFamily="18" charset="0"/>
                <a:cs typeface="Times New Roman" panose="02020603050405020304" pitchFamily="18" charset="0"/>
              </a:rPr>
            </a:br>
            <a:br>
              <a:rPr lang="en-US" sz="1800" b="1" kern="1200" dirty="0">
                <a:solidFill>
                  <a:srgbClr val="FFFFFF"/>
                </a:solidFill>
                <a:latin typeface="Times New Roman" panose="02020603050405020304" pitchFamily="18" charset="0"/>
                <a:cs typeface="Times New Roman" panose="02020603050405020304" pitchFamily="18" charset="0"/>
              </a:rPr>
            </a:br>
            <a:r>
              <a:rPr lang="en-US" sz="1800" kern="1200" dirty="0">
                <a:solidFill>
                  <a:srgbClr val="FFFFFF"/>
                </a:solidFill>
                <a:latin typeface="Times New Roman" panose="02020603050405020304" pitchFamily="18" charset="0"/>
                <a:cs typeface="Times New Roman" panose="02020603050405020304" pitchFamily="18" charset="0"/>
              </a:rPr>
              <a:t>1. For each stock, I compute the previous month’s return </a:t>
            </a:r>
            <a:br>
              <a:rPr lang="en-US" sz="1800" kern="1200" dirty="0">
                <a:solidFill>
                  <a:srgbClr val="FFFFFF"/>
                </a:solidFill>
                <a:latin typeface="Times New Roman" panose="02020603050405020304" pitchFamily="18" charset="0"/>
                <a:cs typeface="Times New Roman" panose="02020603050405020304" pitchFamily="18" charset="0"/>
              </a:rPr>
            </a:br>
            <a:r>
              <a:rPr lang="en-US" sz="1800" kern="1200" dirty="0">
                <a:solidFill>
                  <a:srgbClr val="FFFFFF"/>
                </a:solidFill>
                <a:latin typeface="Times New Roman" panose="02020603050405020304" pitchFamily="18" charset="0"/>
                <a:cs typeface="Times New Roman" panose="02020603050405020304" pitchFamily="18" charset="0"/>
              </a:rPr>
              <a:t>2. Stocks are ranked cross-sectionally based on this metric </a:t>
            </a:r>
            <a:br>
              <a:rPr lang="en-US" sz="1800" kern="1200" dirty="0">
                <a:solidFill>
                  <a:srgbClr val="FFFFFF"/>
                </a:solidFill>
                <a:latin typeface="Times New Roman" panose="02020603050405020304" pitchFamily="18" charset="0"/>
                <a:cs typeface="Times New Roman" panose="02020603050405020304" pitchFamily="18" charset="0"/>
              </a:rPr>
            </a:br>
            <a:r>
              <a:rPr lang="en-US" sz="1800" kern="1200" dirty="0">
                <a:solidFill>
                  <a:srgbClr val="FFFFFF"/>
                </a:solidFill>
                <a:latin typeface="Times New Roman" panose="02020603050405020304" pitchFamily="18" charset="0"/>
                <a:cs typeface="Times New Roman" panose="02020603050405020304" pitchFamily="18" charset="0"/>
              </a:rPr>
              <a:t>3. Portfolios are formed by grouping stocks into quantiles </a:t>
            </a:r>
            <a:br>
              <a:rPr lang="en-US" sz="1800" kern="1200" dirty="0">
                <a:solidFill>
                  <a:srgbClr val="FFFFFF"/>
                </a:solidFill>
                <a:latin typeface="Times New Roman" panose="02020603050405020304" pitchFamily="18" charset="0"/>
                <a:cs typeface="Times New Roman" panose="02020603050405020304" pitchFamily="18" charset="0"/>
              </a:rPr>
            </a:br>
            <a:br>
              <a:rPr lang="en-US" sz="1800" kern="1200" dirty="0">
                <a:solidFill>
                  <a:srgbClr val="FFFFFF"/>
                </a:solidFill>
                <a:latin typeface="Times New Roman" panose="02020603050405020304" pitchFamily="18" charset="0"/>
                <a:cs typeface="Times New Roman" panose="02020603050405020304" pitchFamily="18" charset="0"/>
              </a:rPr>
            </a:br>
            <a:r>
              <a:rPr lang="en-US" sz="1800" b="1" kern="1200" dirty="0">
                <a:solidFill>
                  <a:srgbClr val="FFFFFF"/>
                </a:solidFill>
                <a:latin typeface="Times New Roman" panose="02020603050405020304" pitchFamily="18" charset="0"/>
                <a:cs typeface="Times New Roman" panose="02020603050405020304" pitchFamily="18" charset="0"/>
              </a:rPr>
              <a:t>Portfolio construction:</a:t>
            </a:r>
            <a:br>
              <a:rPr lang="en-US" sz="1800" b="1" kern="1200" dirty="0">
                <a:solidFill>
                  <a:srgbClr val="FFFFFF"/>
                </a:solidFill>
                <a:latin typeface="Times New Roman" panose="02020603050405020304" pitchFamily="18" charset="0"/>
                <a:cs typeface="Times New Roman" panose="02020603050405020304" pitchFamily="18" charset="0"/>
              </a:rPr>
            </a:br>
            <a:r>
              <a:rPr lang="en-US" sz="1800" kern="1200" dirty="0">
                <a:solidFill>
                  <a:srgbClr val="FFFFFF"/>
                </a:solidFill>
                <a:latin typeface="Times New Roman" panose="02020603050405020304" pitchFamily="18" charset="0"/>
                <a:cs typeface="Times New Roman" panose="02020603050405020304" pitchFamily="18" charset="0"/>
              </a:rPr>
              <a:t>- Long position in the worst-performing stocks (losers) </a:t>
            </a:r>
            <a:br>
              <a:rPr lang="en-US" sz="1800" kern="1200" dirty="0">
                <a:solidFill>
                  <a:srgbClr val="FFFFFF"/>
                </a:solidFill>
                <a:latin typeface="Times New Roman" panose="02020603050405020304" pitchFamily="18" charset="0"/>
                <a:cs typeface="Times New Roman" panose="02020603050405020304" pitchFamily="18" charset="0"/>
              </a:rPr>
            </a:br>
            <a:r>
              <a:rPr lang="en-US" sz="1800" kern="1200" dirty="0">
                <a:solidFill>
                  <a:srgbClr val="FFFFFF"/>
                </a:solidFill>
                <a:latin typeface="Times New Roman" panose="02020603050405020304" pitchFamily="18" charset="0"/>
                <a:cs typeface="Times New Roman" panose="02020603050405020304" pitchFamily="18" charset="0"/>
              </a:rPr>
              <a:t>- Short position in the best-performing stocks (winners) </a:t>
            </a:r>
            <a:br>
              <a:rPr lang="en-US" sz="1800" kern="1200" dirty="0">
                <a:solidFill>
                  <a:srgbClr val="FFFFFF"/>
                </a:solidFill>
                <a:latin typeface="Times New Roman" panose="02020603050405020304" pitchFamily="18" charset="0"/>
                <a:cs typeface="Times New Roman" panose="02020603050405020304" pitchFamily="18" charset="0"/>
              </a:rPr>
            </a:br>
            <a:br>
              <a:rPr lang="en-US" sz="1800" kern="1200" dirty="0">
                <a:solidFill>
                  <a:srgbClr val="FFFFFF"/>
                </a:solidFill>
                <a:latin typeface="Times New Roman" panose="02020603050405020304" pitchFamily="18" charset="0"/>
                <a:cs typeface="Times New Roman" panose="02020603050405020304" pitchFamily="18" charset="0"/>
              </a:rPr>
            </a:br>
            <a:r>
              <a:rPr lang="en-US" sz="1800" b="1" kern="1200" dirty="0">
                <a:solidFill>
                  <a:srgbClr val="FFFFFF"/>
                </a:solidFill>
                <a:latin typeface="Times New Roman" panose="02020603050405020304" pitchFamily="18" charset="0"/>
                <a:cs typeface="Times New Roman" panose="02020603050405020304" pitchFamily="18" charset="0"/>
              </a:rPr>
              <a:t>To ensure realism:</a:t>
            </a:r>
            <a:br>
              <a:rPr lang="en-US" sz="1800" b="1" kern="1200" dirty="0">
                <a:solidFill>
                  <a:srgbClr val="FFFFFF"/>
                </a:solidFill>
                <a:latin typeface="Times New Roman" panose="02020603050405020304" pitchFamily="18" charset="0"/>
                <a:cs typeface="Times New Roman" panose="02020603050405020304" pitchFamily="18" charset="0"/>
              </a:rPr>
            </a:br>
            <a:r>
              <a:rPr lang="en-US" sz="1800" kern="1200" dirty="0">
                <a:solidFill>
                  <a:srgbClr val="FFFFFF"/>
                </a:solidFill>
                <a:latin typeface="Times New Roman" panose="02020603050405020304" pitchFamily="18" charset="0"/>
                <a:cs typeface="Times New Roman" panose="02020603050405020304" pitchFamily="18" charset="0"/>
              </a:rPr>
              <a:t>- All signals are lagged </a:t>
            </a:r>
            <a:br>
              <a:rPr lang="en-US" sz="1800" kern="1200" dirty="0">
                <a:solidFill>
                  <a:srgbClr val="FFFFFF"/>
                </a:solidFill>
                <a:latin typeface="Times New Roman" panose="02020603050405020304" pitchFamily="18" charset="0"/>
                <a:cs typeface="Times New Roman" panose="02020603050405020304" pitchFamily="18" charset="0"/>
              </a:rPr>
            </a:br>
            <a:r>
              <a:rPr lang="en-US" sz="1800" kern="1200" dirty="0">
                <a:solidFill>
                  <a:srgbClr val="FFFFFF"/>
                </a:solidFill>
                <a:latin typeface="Times New Roman" panose="02020603050405020304" pitchFamily="18" charset="0"/>
                <a:cs typeface="Times New Roman" panose="02020603050405020304" pitchFamily="18" charset="0"/>
              </a:rPr>
              <a:t>- Only information available at the time is used</a:t>
            </a:r>
            <a:br>
              <a:rPr lang="en-US" sz="1600" kern="1200" dirty="0">
                <a:solidFill>
                  <a:srgbClr val="FFFFFF"/>
                </a:solidFill>
                <a:latin typeface="Times New Roman" panose="02020603050405020304" pitchFamily="18" charset="0"/>
                <a:cs typeface="Times New Roman" panose="02020603050405020304" pitchFamily="18" charset="0"/>
              </a:rPr>
            </a:br>
            <a:endParaRPr lang="en-US" sz="1600" kern="1200" dirty="0">
              <a:solidFill>
                <a:srgbClr val="FFFFFF"/>
              </a:solidFill>
              <a:latin typeface="Times New Roman" panose="02020603050405020304" pitchFamily="18" charset="0"/>
              <a:cs typeface="Times New Roman" panose="02020603050405020304" pitchFamily="18" charset="0"/>
            </a:endParaRPr>
          </a:p>
        </p:txBody>
      </p:sp>
      <p:sp>
        <p:nvSpPr>
          <p:cNvPr id="33" name="Rectangle 32">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271C8C6-1B8A-6522-D4C4-9E7B6B96BA22}"/>
              </a:ext>
            </a:extLst>
          </p:cNvPr>
          <p:cNvSpPr txBox="1"/>
          <p:nvPr/>
        </p:nvSpPr>
        <p:spPr>
          <a:xfrm>
            <a:off x="1127208" y="4756265"/>
            <a:ext cx="4393278" cy="1244483"/>
          </a:xfrm>
          <a:prstGeom prst="rect">
            <a:avLst/>
          </a:prstGeom>
        </p:spPr>
        <p:txBody>
          <a:bodyPr vert="horz" lIns="91440" tIns="45720" rIns="91440" bIns="45720" rtlCol="0" anchor="t">
            <a:normAutofit/>
          </a:bodyPr>
          <a:lstStyle/>
          <a:p>
            <a:pPr>
              <a:lnSpc>
                <a:spcPct val="90000"/>
              </a:lnSpc>
              <a:spcBef>
                <a:spcPts val="1000"/>
              </a:spcBef>
            </a:pPr>
            <a:r>
              <a:rPr lang="en-US" sz="3200" kern="1200" dirty="0">
                <a:solidFill>
                  <a:srgbClr val="FFFFFF"/>
                </a:solidFill>
                <a:latin typeface="Times New Roman" panose="02020603050405020304" pitchFamily="18" charset="0"/>
                <a:cs typeface="Times New Roman" panose="02020603050405020304" pitchFamily="18" charset="0"/>
              </a:rPr>
              <a:t>Signal Construction </a:t>
            </a:r>
          </a:p>
        </p:txBody>
      </p:sp>
      <p:sp>
        <p:nvSpPr>
          <p:cNvPr id="35" name="Oval 34">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8E9970F-9CAE-B6F9-3844-EC276F63E4BC}"/>
              </a:ext>
            </a:extLst>
          </p:cNvPr>
          <p:cNvPicPr>
            <a:picLocks noChangeAspect="1"/>
          </p:cNvPicPr>
          <p:nvPr/>
        </p:nvPicPr>
        <p:blipFill>
          <a:blip r:embed="rId2"/>
          <a:stretch>
            <a:fillRect/>
          </a:stretch>
        </p:blipFill>
        <p:spPr>
          <a:xfrm>
            <a:off x="6920559" y="2284278"/>
            <a:ext cx="3737164" cy="2303731"/>
          </a:xfrm>
          <a:prstGeom prst="rect">
            <a:avLst/>
          </a:prstGeom>
        </p:spPr>
      </p:pic>
    </p:spTree>
    <p:extLst>
      <p:ext uri="{BB962C8B-B14F-4D97-AF65-F5344CB8AC3E}">
        <p14:creationId xmlns:p14="http://schemas.microsoft.com/office/powerpoint/2010/main" val="1247972926"/>
      </p:ext>
    </p:extLst>
  </p:cSld>
  <p:clrMapOvr>
    <a:masterClrMapping/>
  </p:clrMapOvr>
  <mc:AlternateContent xmlns:mc="http://schemas.openxmlformats.org/markup-compatibility/2006" xmlns:p14="http://schemas.microsoft.com/office/powerpoint/2010/main">
    <mc:Choice Requires="p14">
      <p:transition spd="slow" p14:dur="2000" advTm="89293"/>
    </mc:Choice>
    <mc:Fallback xmlns="">
      <p:transition spd="slow" advTm="8929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ED3707AD-8261-4357-9C64-EEC41E8325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 y="-427"/>
            <a:ext cx="6086683" cy="6858428"/>
          </a:xfrm>
          <a:prstGeom prst="rect">
            <a:avLst/>
          </a:prstGeom>
          <a:gradFill>
            <a:gsLst>
              <a:gs pos="0">
                <a:srgbClr val="000000">
                  <a:alpha val="53000"/>
                </a:srgbClr>
              </a:gs>
              <a:gs pos="82000">
                <a:schemeClr val="accent1">
                  <a:lumMod val="75000"/>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 y="498142"/>
            <a:ext cx="12191999" cy="6359430"/>
          </a:xfrm>
          <a:prstGeom prst="rect">
            <a:avLst/>
          </a:prstGeom>
          <a:gradFill>
            <a:gsLst>
              <a:gs pos="13000">
                <a:schemeClr val="accent1">
                  <a:lumMod val="75000"/>
                  <a:alpha val="39000"/>
                </a:schemeClr>
              </a:gs>
              <a:gs pos="100000">
                <a:srgbClr val="000000">
                  <a:alpha val="32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428"/>
            <a:ext cx="6096001" cy="6858000"/>
          </a:xfrm>
          <a:prstGeom prst="rect">
            <a:avLst/>
          </a:prstGeom>
          <a:gradFill>
            <a:gsLst>
              <a:gs pos="13000">
                <a:srgbClr val="000000">
                  <a:alpha val="39000"/>
                </a:srgbClr>
              </a:gs>
              <a:gs pos="99000">
                <a:schemeClr val="accent1">
                  <a:lumMod val="50000"/>
                  <a:alpha val="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Rectangle 51">
            <a:extLst>
              <a:ext uri="{FF2B5EF4-FFF2-40B4-BE49-F238E27FC236}">
                <a16:creationId xmlns:a16="http://schemas.microsoft.com/office/drawing/2014/main" id="{D1B01BE8-EBAB-4286-84CC-EC07C7F957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2000" cy="6400370"/>
          </a:xfrm>
          <a:prstGeom prst="rect">
            <a:avLst/>
          </a:prstGeom>
          <a:gradFill>
            <a:gsLst>
              <a:gs pos="0">
                <a:srgbClr val="000000">
                  <a:alpha val="70000"/>
                </a:srgbClr>
              </a:gs>
              <a:gs pos="99000">
                <a:schemeClr val="accent1">
                  <a:lumMod val="75000"/>
                  <a:alpha val="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Freeform: Shape 13">
            <a:extLst>
              <a:ext uri="{FF2B5EF4-FFF2-40B4-BE49-F238E27FC236}">
                <a16:creationId xmlns:a16="http://schemas.microsoft.com/office/drawing/2014/main" id="{B810725C-984E-4EC2-A5FA-A193878CB8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59729" y="-716753"/>
            <a:ext cx="4893880" cy="10255626"/>
          </a:xfrm>
          <a:custGeom>
            <a:avLst/>
            <a:gdLst>
              <a:gd name="connsiteX0" fmla="*/ 2065105 w 2065105"/>
              <a:gd name="connsiteY0" fmla="*/ 0 h 4139967"/>
              <a:gd name="connsiteX1" fmla="*/ 2065105 w 2065105"/>
              <a:gd name="connsiteY1" fmla="*/ 4139967 h 4139967"/>
              <a:gd name="connsiteX2" fmla="*/ 1858573 w 2065105"/>
              <a:gd name="connsiteY2" fmla="*/ 4129538 h 4139967"/>
              <a:gd name="connsiteX3" fmla="*/ 0 w 2065105"/>
              <a:gd name="connsiteY3" fmla="*/ 2069983 h 4139967"/>
              <a:gd name="connsiteX4" fmla="*/ 1858573 w 2065105"/>
              <a:gd name="connsiteY4" fmla="*/ 10428 h 4139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5105" h="4139967">
                <a:moveTo>
                  <a:pt x="2065105" y="0"/>
                </a:moveTo>
                <a:lnTo>
                  <a:pt x="2065105" y="4139967"/>
                </a:lnTo>
                <a:lnTo>
                  <a:pt x="1858573" y="4129538"/>
                </a:lnTo>
                <a:cubicBezTo>
                  <a:pt x="814640" y="4023521"/>
                  <a:pt x="0" y="3141887"/>
                  <a:pt x="0" y="2069983"/>
                </a:cubicBezTo>
                <a:cubicBezTo>
                  <a:pt x="0" y="998079"/>
                  <a:pt x="814640" y="116446"/>
                  <a:pt x="1858573" y="10428"/>
                </a:cubicBezTo>
                <a:close/>
              </a:path>
            </a:pathLst>
          </a:custGeom>
          <a:gradFill flip="none" rotWithShape="1">
            <a:gsLst>
              <a:gs pos="0">
                <a:schemeClr val="accent1">
                  <a:lumMod val="50000"/>
                  <a:alpha val="0"/>
                </a:schemeClr>
              </a:gs>
              <a:gs pos="100000">
                <a:schemeClr val="accent1">
                  <a:alpha val="23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AD7497-3DD9-3EEE-D16F-6ED64324BD5D}"/>
              </a:ext>
            </a:extLst>
          </p:cNvPr>
          <p:cNvSpPr>
            <a:spLocks noGrp="1"/>
          </p:cNvSpPr>
          <p:nvPr>
            <p:ph type="title"/>
          </p:nvPr>
        </p:nvSpPr>
        <p:spPr>
          <a:xfrm>
            <a:off x="271982" y="1996630"/>
            <a:ext cx="7457441" cy="2863883"/>
          </a:xfrm>
        </p:spPr>
        <p:txBody>
          <a:bodyPr vert="horz" lIns="91440" tIns="45720" rIns="91440" bIns="45720" rtlCol="0" anchor="ctr">
            <a:noAutofit/>
          </a:bodyPr>
          <a:lstStyle/>
          <a:p>
            <a:pPr algn="ctr"/>
            <a:br>
              <a:rPr lang="en-US" sz="1400" kern="1200" dirty="0">
                <a:solidFill>
                  <a:srgbClr val="FFFFFF"/>
                </a:solidFill>
                <a:latin typeface="Times New Roman" panose="02020603050405020304" pitchFamily="18" charset="0"/>
                <a:cs typeface="Times New Roman" panose="02020603050405020304" pitchFamily="18" charset="0"/>
              </a:rPr>
            </a:br>
            <a:br>
              <a:rPr lang="en-US" sz="1400" kern="1200" dirty="0">
                <a:solidFill>
                  <a:srgbClr val="FFFFFF"/>
                </a:solidFill>
                <a:latin typeface="Times New Roman" panose="02020603050405020304" pitchFamily="18" charset="0"/>
                <a:cs typeface="Times New Roman" panose="02020603050405020304" pitchFamily="18" charset="0"/>
              </a:rPr>
            </a:br>
            <a:endParaRPr lang="en-US" sz="1400" kern="1200" dirty="0">
              <a:solidFill>
                <a:srgbClr val="FFFFFF"/>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46D5233-E670-CAFE-F8F7-ABEB3FE4AAF0}"/>
              </a:ext>
            </a:extLst>
          </p:cNvPr>
          <p:cNvSpPr txBox="1"/>
          <p:nvPr/>
        </p:nvSpPr>
        <p:spPr>
          <a:xfrm>
            <a:off x="1524002" y="497713"/>
            <a:ext cx="9144000" cy="697700"/>
          </a:xfrm>
          <a:prstGeom prst="rect">
            <a:avLst/>
          </a:prstGeom>
        </p:spPr>
        <p:txBody>
          <a:bodyPr vert="horz" lIns="91440" tIns="45720" rIns="91440" bIns="45720" rtlCol="0" anchor="ctr">
            <a:normAutofit/>
          </a:bodyPr>
          <a:lstStyle/>
          <a:p>
            <a:pPr algn="ctr">
              <a:lnSpc>
                <a:spcPct val="90000"/>
              </a:lnSpc>
              <a:spcBef>
                <a:spcPts val="1000"/>
              </a:spcBef>
            </a:pPr>
            <a:r>
              <a:rPr lang="en-US" sz="2400" kern="1200" dirty="0">
                <a:solidFill>
                  <a:srgbClr val="FFFFFF"/>
                </a:solidFill>
                <a:latin typeface="+mn-lt"/>
                <a:ea typeface="+mn-ea"/>
                <a:cs typeface="+mn-cs"/>
              </a:rPr>
              <a:t>Implementation &amp; Enhancements</a:t>
            </a:r>
          </a:p>
        </p:txBody>
      </p:sp>
      <p:sp>
        <p:nvSpPr>
          <p:cNvPr id="4" name="TextBox 3">
            <a:extLst>
              <a:ext uri="{FF2B5EF4-FFF2-40B4-BE49-F238E27FC236}">
                <a16:creationId xmlns:a16="http://schemas.microsoft.com/office/drawing/2014/main" id="{C70AF23D-08E6-FB09-AABD-2B29F6E45F6F}"/>
              </a:ext>
            </a:extLst>
          </p:cNvPr>
          <p:cNvSpPr txBox="1"/>
          <p:nvPr/>
        </p:nvSpPr>
        <p:spPr>
          <a:xfrm>
            <a:off x="208570" y="2030916"/>
            <a:ext cx="6366187" cy="1477328"/>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Portfolio Construction</a:t>
            </a:r>
          </a:p>
          <a:p>
            <a:r>
              <a:rPr lang="en-US" dirty="0">
                <a:solidFill>
                  <a:schemeClr val="bg1"/>
                </a:solidFill>
                <a:latin typeface="Times New Roman" panose="02020603050405020304" pitchFamily="18" charset="0"/>
                <a:cs typeface="Times New Roman" panose="02020603050405020304" pitchFamily="18" charset="0"/>
              </a:rPr>
              <a:t>Long-short portfolio targeting short-term reversals </a:t>
            </a:r>
          </a:p>
          <a:p>
            <a:r>
              <a:rPr lang="en-US" b="1" dirty="0">
                <a:solidFill>
                  <a:schemeClr val="bg1"/>
                </a:solidFill>
                <a:latin typeface="Times New Roman" panose="02020603050405020304" pitchFamily="18" charset="0"/>
                <a:cs typeface="Times New Roman" panose="02020603050405020304" pitchFamily="18" charset="0"/>
              </a:rPr>
              <a:t>Monthly rebalancing</a:t>
            </a:r>
            <a:r>
              <a:rPr lang="en-US" dirty="0">
                <a:solidFill>
                  <a:schemeClr val="bg1"/>
                </a:solidFill>
                <a:latin typeface="Times New Roman" panose="02020603050405020304" pitchFamily="18" charset="0"/>
                <a:cs typeface="Times New Roman" panose="02020603050405020304" pitchFamily="18" charset="0"/>
              </a:rPr>
              <a:t> to update signals </a:t>
            </a:r>
          </a:p>
          <a:p>
            <a:r>
              <a:rPr lang="en-US" b="1" dirty="0">
                <a:solidFill>
                  <a:schemeClr val="bg1"/>
                </a:solidFill>
                <a:latin typeface="Times New Roman" panose="02020603050405020304" pitchFamily="18" charset="0"/>
                <a:cs typeface="Times New Roman" panose="02020603050405020304" pitchFamily="18" charset="0"/>
              </a:rPr>
              <a:t>Equal-weighted</a:t>
            </a:r>
            <a:r>
              <a:rPr lang="en-US" dirty="0">
                <a:solidFill>
                  <a:schemeClr val="bg1"/>
                </a:solidFill>
                <a:latin typeface="Times New Roman" panose="02020603050405020304" pitchFamily="18" charset="0"/>
                <a:cs typeface="Times New Roman" panose="02020603050405020304" pitchFamily="18" charset="0"/>
              </a:rPr>
              <a:t> to ensure diversification</a:t>
            </a:r>
          </a:p>
          <a:p>
            <a:endParaRPr lang="en-US" dirty="0"/>
          </a:p>
        </p:txBody>
      </p:sp>
      <p:sp>
        <p:nvSpPr>
          <p:cNvPr id="5" name="TextBox 4">
            <a:extLst>
              <a:ext uri="{FF2B5EF4-FFF2-40B4-BE49-F238E27FC236}">
                <a16:creationId xmlns:a16="http://schemas.microsoft.com/office/drawing/2014/main" id="{5B492E72-0FDC-2C83-4A76-70E23A6C5015}"/>
              </a:ext>
            </a:extLst>
          </p:cNvPr>
          <p:cNvSpPr txBox="1"/>
          <p:nvPr/>
        </p:nvSpPr>
        <p:spPr>
          <a:xfrm>
            <a:off x="290992" y="3846311"/>
            <a:ext cx="5504688" cy="1477328"/>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Trading Rules</a:t>
            </a:r>
          </a:p>
          <a:p>
            <a:r>
              <a:rPr lang="en-US" dirty="0">
                <a:solidFill>
                  <a:schemeClr val="bg1"/>
                </a:solidFill>
                <a:latin typeface="Times New Roman" panose="02020603050405020304" pitchFamily="18" charset="0"/>
                <a:cs typeface="Times New Roman" panose="02020603050405020304" pitchFamily="18" charset="0"/>
              </a:rPr>
              <a:t>Enter positions at the </a:t>
            </a:r>
            <a:r>
              <a:rPr lang="en-US" b="1" dirty="0">
                <a:solidFill>
                  <a:schemeClr val="bg1"/>
                </a:solidFill>
                <a:latin typeface="Times New Roman" panose="02020603050405020304" pitchFamily="18" charset="0"/>
                <a:cs typeface="Times New Roman" panose="02020603050405020304" pitchFamily="18" charset="0"/>
              </a:rPr>
              <a:t>start of each month</a:t>
            </a:r>
            <a:r>
              <a:rPr lang="en-US" dirty="0">
                <a:solidFill>
                  <a:schemeClr val="bg1"/>
                </a:solidFill>
                <a:latin typeface="Times New Roman" panose="02020603050405020304" pitchFamily="18" charset="0"/>
                <a:cs typeface="Times New Roman" panose="02020603050405020304" pitchFamily="18" charset="0"/>
              </a:rPr>
              <a:t> </a:t>
            </a:r>
          </a:p>
          <a:p>
            <a:r>
              <a:rPr lang="en-US" b="1" dirty="0">
                <a:solidFill>
                  <a:schemeClr val="bg1"/>
                </a:solidFill>
                <a:latin typeface="Times New Roman" panose="02020603050405020304" pitchFamily="18" charset="0"/>
                <a:cs typeface="Times New Roman" panose="02020603050405020304" pitchFamily="18" charset="0"/>
              </a:rPr>
              <a:t>Long losers (bottom decile), short winners (top decile)</a:t>
            </a:r>
            <a:r>
              <a:rPr lang="en-US" dirty="0">
                <a:solidFill>
                  <a:schemeClr val="bg1"/>
                </a:solidFill>
                <a:latin typeface="Times New Roman" panose="02020603050405020304" pitchFamily="18" charset="0"/>
                <a:cs typeface="Times New Roman" panose="02020603050405020304" pitchFamily="18" charset="0"/>
              </a:rPr>
              <a:t> </a:t>
            </a:r>
          </a:p>
          <a:p>
            <a:r>
              <a:rPr lang="en-US" dirty="0">
                <a:solidFill>
                  <a:schemeClr val="bg1"/>
                </a:solidFill>
                <a:latin typeface="Times New Roman" panose="02020603050405020304" pitchFamily="18" charset="0"/>
                <a:cs typeface="Times New Roman" panose="02020603050405020304" pitchFamily="18" charset="0"/>
              </a:rPr>
              <a:t>Hold for one month, then rebalance </a:t>
            </a:r>
          </a:p>
          <a:p>
            <a:endParaRPr lang="en-US" dirty="0"/>
          </a:p>
        </p:txBody>
      </p:sp>
      <p:sp>
        <p:nvSpPr>
          <p:cNvPr id="6" name="TextBox 5">
            <a:extLst>
              <a:ext uri="{FF2B5EF4-FFF2-40B4-BE49-F238E27FC236}">
                <a16:creationId xmlns:a16="http://schemas.microsoft.com/office/drawing/2014/main" id="{A505C7E0-72B8-6411-B7C9-3483FA961F24}"/>
              </a:ext>
            </a:extLst>
          </p:cNvPr>
          <p:cNvSpPr txBox="1"/>
          <p:nvPr/>
        </p:nvSpPr>
        <p:spPr>
          <a:xfrm>
            <a:off x="6574757" y="2010531"/>
            <a:ext cx="3940246" cy="1477328"/>
          </a:xfrm>
          <a:prstGeom prst="rect">
            <a:avLst/>
          </a:prstGeom>
          <a:noFill/>
        </p:spPr>
        <p:txBody>
          <a:bodyPr wrap="none" rtlCol="0">
            <a:spAutoFit/>
          </a:bodyPr>
          <a:lstStyle/>
          <a:p>
            <a:r>
              <a:rPr lang="en-US" b="1" dirty="0">
                <a:solidFill>
                  <a:schemeClr val="bg1"/>
                </a:solidFill>
                <a:latin typeface="Times New Roman" panose="02020603050405020304" pitchFamily="18" charset="0"/>
                <a:cs typeface="Times New Roman" panose="02020603050405020304" pitchFamily="18" charset="0"/>
              </a:rPr>
              <a:t>Implementation Details</a:t>
            </a:r>
          </a:p>
          <a:p>
            <a:r>
              <a:rPr lang="en-US" dirty="0">
                <a:solidFill>
                  <a:schemeClr val="bg1"/>
                </a:solidFill>
                <a:latin typeface="Times New Roman" panose="02020603050405020304" pitchFamily="18" charset="0"/>
                <a:cs typeface="Times New Roman" panose="02020603050405020304" pitchFamily="18" charset="0"/>
              </a:rPr>
              <a:t>Equal weights across selected stocks </a:t>
            </a:r>
          </a:p>
          <a:p>
            <a:r>
              <a:rPr lang="en-US" dirty="0">
                <a:solidFill>
                  <a:schemeClr val="bg1"/>
                </a:solidFill>
                <a:latin typeface="Times New Roman" panose="02020603050405020304" pitchFamily="18" charset="0"/>
                <a:cs typeface="Times New Roman" panose="02020603050405020304" pitchFamily="18" charset="0"/>
              </a:rPr>
              <a:t>Monthly rebalancing → </a:t>
            </a:r>
            <a:r>
              <a:rPr lang="en-US" b="1" dirty="0">
                <a:solidFill>
                  <a:schemeClr val="bg1"/>
                </a:solidFill>
                <a:latin typeface="Times New Roman" panose="02020603050405020304" pitchFamily="18" charset="0"/>
                <a:cs typeface="Times New Roman" panose="02020603050405020304" pitchFamily="18" charset="0"/>
              </a:rPr>
              <a:t>high turnover</a:t>
            </a:r>
            <a:r>
              <a:rPr lang="en-US" dirty="0">
                <a:solidFill>
                  <a:schemeClr val="bg1"/>
                </a:solidFill>
                <a:latin typeface="Times New Roman" panose="02020603050405020304" pitchFamily="18" charset="0"/>
                <a:cs typeface="Times New Roman" panose="02020603050405020304" pitchFamily="18" charset="0"/>
              </a:rPr>
              <a:t> </a:t>
            </a:r>
          </a:p>
          <a:p>
            <a:r>
              <a:rPr lang="en-US" dirty="0">
                <a:solidFill>
                  <a:schemeClr val="bg1"/>
                </a:solidFill>
                <a:latin typeface="Times New Roman" panose="02020603050405020304" pitchFamily="18" charset="0"/>
                <a:cs typeface="Times New Roman" panose="02020603050405020304" pitchFamily="18" charset="0"/>
              </a:rPr>
              <a:t>Assume execution at closing prices</a:t>
            </a:r>
          </a:p>
          <a:p>
            <a:endParaRPr lang="en-US" dirty="0"/>
          </a:p>
        </p:txBody>
      </p:sp>
      <p:sp>
        <p:nvSpPr>
          <p:cNvPr id="7" name="TextBox 6">
            <a:extLst>
              <a:ext uri="{FF2B5EF4-FFF2-40B4-BE49-F238E27FC236}">
                <a16:creationId xmlns:a16="http://schemas.microsoft.com/office/drawing/2014/main" id="{7EB5AF1E-3BD4-B13F-F0DC-A8D2AA43B397}"/>
              </a:ext>
            </a:extLst>
          </p:cNvPr>
          <p:cNvSpPr txBox="1"/>
          <p:nvPr/>
        </p:nvSpPr>
        <p:spPr>
          <a:xfrm>
            <a:off x="6441209" y="3872212"/>
            <a:ext cx="4429418" cy="2585323"/>
          </a:xfrm>
          <a:prstGeom prst="rect">
            <a:avLst/>
          </a:prstGeom>
          <a:noFill/>
        </p:spPr>
        <p:txBody>
          <a:bodyPr wrap="none" rtlCol="0">
            <a:spAutoFit/>
          </a:bodyPr>
          <a:lstStyle/>
          <a:p>
            <a:r>
              <a:rPr lang="en-US" b="1" dirty="0">
                <a:solidFill>
                  <a:schemeClr val="bg1"/>
                </a:solidFill>
                <a:latin typeface="Times New Roman" panose="02020603050405020304" pitchFamily="18" charset="0"/>
                <a:cs typeface="Times New Roman" panose="02020603050405020304" pitchFamily="18" charset="0"/>
              </a:rPr>
              <a:t>Risk Adjustments</a:t>
            </a:r>
          </a:p>
          <a:p>
            <a:endParaRPr lang="en-US" b="1"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Volatility Scaling</a:t>
            </a:r>
            <a:endParaRPr lang="en-US"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Adjusts exposure based on market volatility </a:t>
            </a:r>
          </a:p>
          <a:p>
            <a:r>
              <a:rPr lang="en-US" dirty="0">
                <a:solidFill>
                  <a:schemeClr val="bg1"/>
                </a:solidFill>
                <a:latin typeface="Times New Roman" panose="02020603050405020304" pitchFamily="18" charset="0"/>
                <a:cs typeface="Times New Roman" panose="02020603050405020304" pitchFamily="18" charset="0"/>
              </a:rPr>
              <a:t>Reduces risk in volatile periods </a:t>
            </a:r>
          </a:p>
          <a:p>
            <a:r>
              <a:rPr lang="en-US" b="1" dirty="0">
                <a:solidFill>
                  <a:schemeClr val="bg1"/>
                </a:solidFill>
                <a:latin typeface="Times New Roman" panose="02020603050405020304" pitchFamily="18" charset="0"/>
                <a:cs typeface="Times New Roman" panose="02020603050405020304" pitchFamily="18" charset="0"/>
              </a:rPr>
              <a:t>Regime Filter</a:t>
            </a:r>
            <a:endParaRPr lang="en-US"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Adjusts exposure based on market conditions </a:t>
            </a:r>
          </a:p>
          <a:p>
            <a:r>
              <a:rPr lang="en-US" dirty="0">
                <a:solidFill>
                  <a:schemeClr val="bg1"/>
                </a:solidFill>
                <a:latin typeface="Times New Roman" panose="02020603050405020304" pitchFamily="18" charset="0"/>
                <a:cs typeface="Times New Roman" panose="02020603050405020304" pitchFamily="18" charset="0"/>
              </a:rPr>
              <a:t>Limits downside during unfavorable periods </a:t>
            </a:r>
          </a:p>
          <a:p>
            <a:endParaRPr lang="en-US" dirty="0"/>
          </a:p>
        </p:txBody>
      </p:sp>
    </p:spTree>
    <p:extLst>
      <p:ext uri="{BB962C8B-B14F-4D97-AF65-F5344CB8AC3E}">
        <p14:creationId xmlns:p14="http://schemas.microsoft.com/office/powerpoint/2010/main" val="1261460639"/>
      </p:ext>
    </p:extLst>
  </p:cSld>
  <p:clrMapOvr>
    <a:masterClrMapping/>
  </p:clrMapOvr>
  <mc:AlternateContent xmlns:mc="http://schemas.openxmlformats.org/markup-compatibility/2006" xmlns:p14="http://schemas.microsoft.com/office/powerpoint/2010/main">
    <mc:Choice Requires="p14">
      <p:transition spd="slow" p14:dur="2000" advTm="148316"/>
    </mc:Choice>
    <mc:Fallback xmlns="">
      <p:transition spd="slow" advTm="14831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D63398-EEE4-4E6A-BEF3-E92924A28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0"/>
            <a:ext cx="12226755"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6804B24-17AC-406D-9636-1332F5DF9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03156" y="-2460574"/>
            <a:ext cx="6859919" cy="11777232"/>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864"/>
            <a:ext cx="3608179"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1164940" y="1025588"/>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570DF94D-F28F-435E-AD56-C40FC99AF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12221732"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4F952EE-9AAE-4D81-BF98-35DF71334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942096" y="-2872097"/>
            <a:ext cx="6407535" cy="12151737"/>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716A8B4F-7100-0837-876F-4E9D85A2D2C2}"/>
              </a:ext>
            </a:extLst>
          </p:cNvPr>
          <p:cNvSpPr>
            <a:spLocks noGrp="1"/>
          </p:cNvSpPr>
          <p:nvPr>
            <p:ph type="title"/>
          </p:nvPr>
        </p:nvSpPr>
        <p:spPr/>
        <p:txBody>
          <a:bodyPr>
            <a:normAutofit/>
          </a:bodyPr>
          <a:lstStyle/>
          <a:p>
            <a:r>
              <a:rPr lang="en-US" sz="3200" dirty="0">
                <a:solidFill>
                  <a:schemeClr val="bg1"/>
                </a:solidFill>
                <a:latin typeface="Times New Roman" panose="02020603050405020304" pitchFamily="18" charset="0"/>
                <a:cs typeface="Times New Roman" panose="02020603050405020304" pitchFamily="18" charset="0"/>
              </a:rPr>
              <a:t>Volatility Scaling Performance </a:t>
            </a:r>
          </a:p>
        </p:txBody>
      </p:sp>
      <p:sp>
        <p:nvSpPr>
          <p:cNvPr id="5" name="TextBox 4">
            <a:extLst>
              <a:ext uri="{FF2B5EF4-FFF2-40B4-BE49-F238E27FC236}">
                <a16:creationId xmlns:a16="http://schemas.microsoft.com/office/drawing/2014/main" id="{D11CC144-8F57-B06B-CB11-0AFF38FD64E9}"/>
              </a:ext>
            </a:extLst>
          </p:cNvPr>
          <p:cNvSpPr txBox="1"/>
          <p:nvPr/>
        </p:nvSpPr>
        <p:spPr>
          <a:xfrm>
            <a:off x="247853" y="2556903"/>
            <a:ext cx="6381547" cy="3416320"/>
          </a:xfrm>
          <a:prstGeom prst="rect">
            <a:avLst/>
          </a:prstGeom>
          <a:noFill/>
        </p:spPr>
        <p:txBody>
          <a:bodyPr wrap="square" rtlCol="0">
            <a:spAutoFit/>
          </a:bodyPr>
          <a:lstStyle/>
          <a:p>
            <a:pPr algn="just"/>
            <a:r>
              <a:rPr lang="en-US" dirty="0">
                <a:solidFill>
                  <a:schemeClr val="bg1"/>
                </a:solidFill>
                <a:latin typeface="Times New Roman" panose="02020603050405020304" pitchFamily="18" charset="0"/>
                <a:cs typeface="Times New Roman" panose="02020603050405020304" pitchFamily="18" charset="0"/>
              </a:rPr>
              <a:t>Volatility scaling adjusts the portfolio’s exposure based on recent market volatility. When volatility increases, the strategy reduces its exposure, and when volatility is low, it increases exposure.</a:t>
            </a:r>
          </a:p>
          <a:p>
            <a:pPr algn="just"/>
            <a:endParaRPr lang="en-US" dirty="0">
              <a:solidFill>
                <a:schemeClr val="bg1"/>
              </a:solidFill>
              <a:latin typeface="Times New Roman" panose="02020603050405020304" pitchFamily="18" charset="0"/>
              <a:cs typeface="Times New Roman" panose="02020603050405020304" pitchFamily="18" charset="0"/>
            </a:endParaRPr>
          </a:p>
          <a:p>
            <a:pPr algn="just"/>
            <a:r>
              <a:rPr lang="en-US" dirty="0">
                <a:solidFill>
                  <a:schemeClr val="bg1"/>
                </a:solidFill>
                <a:latin typeface="Times New Roman" panose="02020603050405020304" pitchFamily="18" charset="0"/>
                <a:cs typeface="Times New Roman" panose="02020603050405020304" pitchFamily="18" charset="0"/>
              </a:rPr>
              <a:t>This results in:</a:t>
            </a:r>
          </a:p>
          <a:p>
            <a:pPr algn="just"/>
            <a:r>
              <a:rPr lang="en-US" dirty="0">
                <a:solidFill>
                  <a:schemeClr val="bg1"/>
                </a:solidFill>
                <a:latin typeface="Times New Roman" panose="02020603050405020304" pitchFamily="18" charset="0"/>
                <a:cs typeface="Times New Roman" panose="02020603050405020304" pitchFamily="18" charset="0"/>
              </a:rPr>
              <a:t>- A smoother return profile </a:t>
            </a:r>
          </a:p>
          <a:p>
            <a:pPr algn="just"/>
            <a:r>
              <a:rPr lang="en-US" dirty="0">
                <a:solidFill>
                  <a:schemeClr val="bg1"/>
                </a:solidFill>
                <a:latin typeface="Times New Roman" panose="02020603050405020304" pitchFamily="18" charset="0"/>
                <a:cs typeface="Times New Roman" panose="02020603050405020304" pitchFamily="18" charset="0"/>
              </a:rPr>
              <a:t>- Reduced extreme fluctuations </a:t>
            </a:r>
          </a:p>
          <a:p>
            <a:pPr algn="just"/>
            <a:r>
              <a:rPr lang="en-US" dirty="0">
                <a:solidFill>
                  <a:schemeClr val="bg1"/>
                </a:solidFill>
                <a:latin typeface="Times New Roman" panose="02020603050405020304" pitchFamily="18" charset="0"/>
                <a:cs typeface="Times New Roman" panose="02020603050405020304" pitchFamily="18" charset="0"/>
              </a:rPr>
              <a:t>- Improved risk-adjusted performance </a:t>
            </a:r>
          </a:p>
          <a:p>
            <a:pPr algn="just"/>
            <a:r>
              <a:rPr lang="en-US" dirty="0">
                <a:solidFill>
                  <a:schemeClr val="bg1"/>
                </a:solidFill>
                <a:latin typeface="Times New Roman" panose="02020603050405020304" pitchFamily="18" charset="0"/>
                <a:cs typeface="Times New Roman" panose="02020603050405020304" pitchFamily="18" charset="0"/>
              </a:rPr>
              <a:t>- The Sharpe ratio increases significantly compared to the baseline strategy, indicating that risk control </a:t>
            </a:r>
          </a:p>
          <a:p>
            <a:pPr algn="just"/>
            <a:r>
              <a:rPr lang="en-US" dirty="0">
                <a:solidFill>
                  <a:schemeClr val="bg1"/>
                </a:solidFill>
                <a:latin typeface="Times New Roman" panose="02020603050405020304" pitchFamily="18" charset="0"/>
                <a:cs typeface="Times New Roman" panose="02020603050405020304" pitchFamily="18" charset="0"/>
              </a:rPr>
              <a:t>- plays a critical role in performance enhancement.</a:t>
            </a:r>
          </a:p>
          <a:p>
            <a:endParaRPr lang="en-US" dirty="0"/>
          </a:p>
        </p:txBody>
      </p:sp>
      <p:pic>
        <p:nvPicPr>
          <p:cNvPr id="7" name="Picture 6">
            <a:extLst>
              <a:ext uri="{FF2B5EF4-FFF2-40B4-BE49-F238E27FC236}">
                <a16:creationId xmlns:a16="http://schemas.microsoft.com/office/drawing/2014/main" id="{E11ACD70-2288-2D04-7540-AE60FD6D97F2}"/>
              </a:ext>
            </a:extLst>
          </p:cNvPr>
          <p:cNvPicPr>
            <a:picLocks noChangeAspect="1"/>
          </p:cNvPicPr>
          <p:nvPr/>
        </p:nvPicPr>
        <p:blipFill>
          <a:blip r:embed="rId2"/>
          <a:stretch>
            <a:fillRect/>
          </a:stretch>
        </p:blipFill>
        <p:spPr>
          <a:xfrm>
            <a:off x="7393614" y="2556903"/>
            <a:ext cx="4021562" cy="2813205"/>
          </a:xfrm>
          <a:prstGeom prst="rect">
            <a:avLst/>
          </a:prstGeom>
        </p:spPr>
      </p:pic>
    </p:spTree>
    <p:extLst>
      <p:ext uri="{BB962C8B-B14F-4D97-AF65-F5344CB8AC3E}">
        <p14:creationId xmlns:p14="http://schemas.microsoft.com/office/powerpoint/2010/main" val="1162131092"/>
      </p:ext>
    </p:extLst>
  </p:cSld>
  <p:clrMapOvr>
    <a:masterClrMapping/>
  </p:clrMapOvr>
  <mc:AlternateContent xmlns:mc="http://schemas.openxmlformats.org/markup-compatibility/2006" xmlns:p14="http://schemas.microsoft.com/office/powerpoint/2010/main">
    <mc:Choice Requires="p14">
      <p:transition spd="slow" p14:dur="2000" advTm="43856"/>
    </mc:Choice>
    <mc:Fallback xmlns="">
      <p:transition spd="slow" advTm="43856"/>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D63398-EEE4-4E6A-BEF3-E92924A28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0"/>
            <a:ext cx="12226755"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6804B24-17AC-406D-9636-1332F5DF9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03156" y="-2460574"/>
            <a:ext cx="6859919" cy="11777232"/>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864"/>
            <a:ext cx="3608179"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1164940" y="1025588"/>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570DF94D-F28F-435E-AD56-C40FC99AF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12221732"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4F952EE-9AAE-4D81-BF98-35DF71334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942096" y="-2872097"/>
            <a:ext cx="6407535" cy="12151737"/>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2A2511-ABC2-7C25-1E27-ADDF3F184C8A}"/>
              </a:ext>
            </a:extLst>
          </p:cNvPr>
          <p:cNvSpPr>
            <a:spLocks noGrp="1"/>
          </p:cNvSpPr>
          <p:nvPr>
            <p:ph type="title"/>
          </p:nvPr>
        </p:nvSpPr>
        <p:spPr>
          <a:xfrm>
            <a:off x="377755" y="2856611"/>
            <a:ext cx="6928301" cy="2732297"/>
          </a:xfrm>
        </p:spPr>
        <p:txBody>
          <a:bodyPr vert="horz" lIns="91440" tIns="45720" rIns="91440" bIns="45720" rtlCol="0" anchor="t">
            <a:noAutofit/>
          </a:bodyPr>
          <a:lstStyle/>
          <a:p>
            <a:r>
              <a:rPr lang="en-US" sz="1800" dirty="0">
                <a:solidFill>
                  <a:schemeClr val="bg1"/>
                </a:solidFill>
                <a:latin typeface="Times New Roman" panose="02020603050405020304" pitchFamily="18" charset="0"/>
                <a:cs typeface="Times New Roman" panose="02020603050405020304" pitchFamily="18" charset="0"/>
              </a:rPr>
              <a:t>The regime filter attempts to improve performance by conditioning the strategy on broader market conditions.</a:t>
            </a:r>
            <a:br>
              <a:rPr lang="en-US" sz="1800" dirty="0">
                <a:solidFill>
                  <a:schemeClr val="bg1"/>
                </a:solidFill>
                <a:latin typeface="Times New Roman" panose="02020603050405020304" pitchFamily="18" charset="0"/>
                <a:cs typeface="Times New Roman" panose="02020603050405020304" pitchFamily="18" charset="0"/>
              </a:rPr>
            </a:br>
            <a:br>
              <a:rPr lang="en-US" sz="1800" dirty="0">
                <a:solidFill>
                  <a:schemeClr val="bg1"/>
                </a:solidFill>
                <a:latin typeface="Times New Roman" panose="02020603050405020304" pitchFamily="18" charset="0"/>
                <a:cs typeface="Times New Roman" panose="02020603050405020304" pitchFamily="18" charset="0"/>
              </a:rPr>
            </a:br>
            <a:br>
              <a:rPr lang="en-US" sz="1800" dirty="0">
                <a:solidFill>
                  <a:schemeClr val="bg1"/>
                </a:solidFill>
                <a:latin typeface="Times New Roman" panose="02020603050405020304" pitchFamily="18" charset="0"/>
                <a:cs typeface="Times New Roman" panose="02020603050405020304" pitchFamily="18" charset="0"/>
              </a:rPr>
            </a:br>
            <a:r>
              <a:rPr lang="en-US" sz="1800" dirty="0">
                <a:solidFill>
                  <a:schemeClr val="bg1"/>
                </a:solidFill>
                <a:latin typeface="Times New Roman" panose="02020603050405020304" pitchFamily="18" charset="0"/>
                <a:cs typeface="Times New Roman" panose="02020603050405020304" pitchFamily="18" charset="0"/>
              </a:rPr>
              <a:t>The idea is that:</a:t>
            </a:r>
            <a:br>
              <a:rPr lang="en-US" sz="1800" dirty="0">
                <a:solidFill>
                  <a:schemeClr val="bg1"/>
                </a:solidFill>
                <a:latin typeface="Times New Roman" panose="02020603050405020304" pitchFamily="18" charset="0"/>
                <a:cs typeface="Times New Roman" panose="02020603050405020304" pitchFamily="18" charset="0"/>
              </a:rPr>
            </a:br>
            <a:r>
              <a:rPr lang="en-US" sz="1800" dirty="0">
                <a:solidFill>
                  <a:schemeClr val="bg1"/>
                </a:solidFill>
                <a:latin typeface="Times New Roman" panose="02020603050405020304" pitchFamily="18" charset="0"/>
                <a:cs typeface="Times New Roman" panose="02020603050405020304" pitchFamily="18" charset="0"/>
              </a:rPr>
              <a:t>- Some market environments are more favorable for reversal strategies </a:t>
            </a:r>
            <a:br>
              <a:rPr lang="en-US" sz="1800" dirty="0">
                <a:solidFill>
                  <a:schemeClr val="bg1"/>
                </a:solidFill>
                <a:latin typeface="Times New Roman" panose="02020603050405020304" pitchFamily="18" charset="0"/>
                <a:cs typeface="Times New Roman" panose="02020603050405020304" pitchFamily="18" charset="0"/>
              </a:rPr>
            </a:br>
            <a:r>
              <a:rPr lang="en-US" sz="1800" dirty="0">
                <a:solidFill>
                  <a:schemeClr val="bg1"/>
                </a:solidFill>
                <a:latin typeface="Times New Roman" panose="02020603050405020304" pitchFamily="18" charset="0"/>
                <a:cs typeface="Times New Roman" panose="02020603050405020304" pitchFamily="18" charset="0"/>
              </a:rPr>
              <a:t>- Avoiding unfavorable periods can reduce losses </a:t>
            </a:r>
            <a:br>
              <a:rPr lang="en-US" sz="1800" dirty="0">
                <a:solidFill>
                  <a:schemeClr val="bg1"/>
                </a:solidFill>
                <a:latin typeface="Times New Roman" panose="02020603050405020304" pitchFamily="18" charset="0"/>
                <a:cs typeface="Times New Roman" panose="02020603050405020304" pitchFamily="18" charset="0"/>
              </a:rPr>
            </a:br>
            <a:br>
              <a:rPr lang="en-US" sz="1800" dirty="0">
                <a:solidFill>
                  <a:schemeClr val="bg1"/>
                </a:solidFill>
                <a:latin typeface="Times New Roman" panose="02020603050405020304" pitchFamily="18" charset="0"/>
                <a:cs typeface="Times New Roman" panose="02020603050405020304" pitchFamily="18" charset="0"/>
              </a:rPr>
            </a:br>
            <a:br>
              <a:rPr lang="en-US" sz="1800" dirty="0">
                <a:solidFill>
                  <a:schemeClr val="bg1"/>
                </a:solidFill>
                <a:latin typeface="Times New Roman" panose="02020603050405020304" pitchFamily="18" charset="0"/>
                <a:cs typeface="Times New Roman" panose="02020603050405020304" pitchFamily="18" charset="0"/>
              </a:rPr>
            </a:br>
            <a:r>
              <a:rPr lang="en-US" sz="1800" dirty="0">
                <a:solidFill>
                  <a:schemeClr val="bg1"/>
                </a:solidFill>
                <a:latin typeface="Times New Roman" panose="02020603050405020304" pitchFamily="18" charset="0"/>
                <a:cs typeface="Times New Roman" panose="02020603050405020304" pitchFamily="18" charset="0"/>
              </a:rPr>
              <a:t>However, results show that:</a:t>
            </a:r>
            <a:br>
              <a:rPr lang="en-US" sz="1800" dirty="0">
                <a:solidFill>
                  <a:schemeClr val="bg1"/>
                </a:solidFill>
                <a:latin typeface="Times New Roman" panose="02020603050405020304" pitchFamily="18" charset="0"/>
                <a:cs typeface="Times New Roman" panose="02020603050405020304" pitchFamily="18" charset="0"/>
              </a:rPr>
            </a:br>
            <a:r>
              <a:rPr lang="en-US" sz="1800" dirty="0">
                <a:solidFill>
                  <a:schemeClr val="bg1"/>
                </a:solidFill>
                <a:latin typeface="Times New Roman" panose="02020603050405020304" pitchFamily="18" charset="0"/>
                <a:cs typeface="Times New Roman" panose="02020603050405020304" pitchFamily="18" charset="0"/>
              </a:rPr>
              <a:t>- The Sharpe ratio is lower than the volatility-scaled strategy </a:t>
            </a:r>
            <a:br>
              <a:rPr lang="en-US" sz="1800" dirty="0">
                <a:solidFill>
                  <a:schemeClr val="bg1"/>
                </a:solidFill>
                <a:latin typeface="Times New Roman" panose="02020603050405020304" pitchFamily="18" charset="0"/>
                <a:cs typeface="Times New Roman" panose="02020603050405020304" pitchFamily="18" charset="0"/>
              </a:rPr>
            </a:br>
            <a:r>
              <a:rPr lang="en-US" sz="1800" dirty="0">
                <a:solidFill>
                  <a:schemeClr val="bg1"/>
                </a:solidFill>
                <a:latin typeface="Times New Roman" panose="02020603050405020304" pitchFamily="18" charset="0"/>
                <a:cs typeface="Times New Roman" panose="02020603050405020304" pitchFamily="18" charset="0"/>
              </a:rPr>
              <a:t>- Some profitable periods are excluded </a:t>
            </a:r>
            <a:br>
              <a:rPr lang="en-US" sz="1800" dirty="0">
                <a:solidFill>
                  <a:schemeClr val="bg1"/>
                </a:solidFill>
                <a:latin typeface="Times New Roman" panose="02020603050405020304" pitchFamily="18" charset="0"/>
                <a:cs typeface="Times New Roman" panose="02020603050405020304" pitchFamily="18" charset="0"/>
              </a:rPr>
            </a:br>
            <a:r>
              <a:rPr lang="en-US" sz="1800" dirty="0">
                <a:solidFill>
                  <a:schemeClr val="bg1"/>
                </a:solidFill>
                <a:latin typeface="Times New Roman" panose="02020603050405020304" pitchFamily="18" charset="0"/>
                <a:cs typeface="Times New Roman" panose="02020603050405020304" pitchFamily="18" charset="0"/>
              </a:rPr>
              <a:t>- The filter may be too restrictive </a:t>
            </a:r>
            <a:br>
              <a:rPr lang="en-US" sz="1800" dirty="0">
                <a:latin typeface="Times New Roman" panose="02020603050405020304" pitchFamily="18" charset="0"/>
                <a:cs typeface="Times New Roman" panose="02020603050405020304" pitchFamily="18" charset="0"/>
              </a:rPr>
            </a:br>
            <a:endParaRPr lang="en-US" sz="1800" kern="1200" dirty="0">
              <a:solidFill>
                <a:srgbClr val="FFFFFF"/>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E360F649-8521-7169-F81E-0D80D392AD08}"/>
              </a:ext>
            </a:extLst>
          </p:cNvPr>
          <p:cNvSpPr txBox="1"/>
          <p:nvPr/>
        </p:nvSpPr>
        <p:spPr>
          <a:xfrm>
            <a:off x="675078" y="860440"/>
            <a:ext cx="5503430" cy="523220"/>
          </a:xfrm>
          <a:prstGeom prst="rect">
            <a:avLst/>
          </a:prstGeom>
          <a:noFill/>
        </p:spPr>
        <p:txBody>
          <a:bodyPr wrap="none" rtlCol="0">
            <a:spAutoFit/>
          </a:bodyPr>
          <a:lstStyle/>
          <a:p>
            <a:r>
              <a:rPr lang="en-US" sz="2800" dirty="0">
                <a:solidFill>
                  <a:schemeClr val="bg1"/>
                </a:solidFill>
                <a:latin typeface="Times New Roman" panose="02020603050405020304" pitchFamily="18" charset="0"/>
                <a:cs typeface="Times New Roman" panose="02020603050405020304" pitchFamily="18" charset="0"/>
              </a:rPr>
              <a:t>Regime-Based Strategy Performance</a:t>
            </a:r>
          </a:p>
        </p:txBody>
      </p:sp>
      <p:pic>
        <p:nvPicPr>
          <p:cNvPr id="5" name="Picture 4">
            <a:extLst>
              <a:ext uri="{FF2B5EF4-FFF2-40B4-BE49-F238E27FC236}">
                <a16:creationId xmlns:a16="http://schemas.microsoft.com/office/drawing/2014/main" id="{EBEFC881-EA3D-C87A-02D5-BE29A64EC446}"/>
              </a:ext>
            </a:extLst>
          </p:cNvPr>
          <p:cNvPicPr>
            <a:picLocks noChangeAspect="1"/>
          </p:cNvPicPr>
          <p:nvPr/>
        </p:nvPicPr>
        <p:blipFill>
          <a:blip r:embed="rId2"/>
          <a:stretch>
            <a:fillRect/>
          </a:stretch>
        </p:blipFill>
        <p:spPr>
          <a:xfrm>
            <a:off x="7665813" y="2796243"/>
            <a:ext cx="3814730" cy="2853034"/>
          </a:xfrm>
          <a:prstGeom prst="rect">
            <a:avLst/>
          </a:prstGeom>
        </p:spPr>
      </p:pic>
    </p:spTree>
    <p:extLst>
      <p:ext uri="{BB962C8B-B14F-4D97-AF65-F5344CB8AC3E}">
        <p14:creationId xmlns:p14="http://schemas.microsoft.com/office/powerpoint/2010/main" val="1462278378"/>
      </p:ext>
    </p:extLst>
  </p:cSld>
  <p:clrMapOvr>
    <a:masterClrMapping/>
  </p:clrMapOvr>
  <mc:AlternateContent xmlns:mc="http://schemas.openxmlformats.org/markup-compatibility/2006" xmlns:p14="http://schemas.microsoft.com/office/powerpoint/2010/main">
    <mc:Choice Requires="p14">
      <p:transition spd="slow" p14:dur="2000" advTm="58694"/>
    </mc:Choice>
    <mc:Fallback xmlns="">
      <p:transition spd="slow" advTm="5869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D63398-EEE4-4E6A-BEF3-E92924A28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0"/>
            <a:ext cx="12226755"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6804B24-17AC-406D-9636-1332F5DF9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03156" y="-2460574"/>
            <a:ext cx="6859919" cy="11777232"/>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864"/>
            <a:ext cx="3608179"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1164940" y="1025588"/>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570DF94D-F28F-435E-AD56-C40FC99AF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12221732"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4F952EE-9AAE-4D81-BF98-35DF71334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942096" y="-2872097"/>
            <a:ext cx="6407535" cy="12151737"/>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B6555D-2A69-2F55-B248-46568ED9E4DD}"/>
              </a:ext>
            </a:extLst>
          </p:cNvPr>
          <p:cNvSpPr>
            <a:spLocks noGrp="1"/>
          </p:cNvSpPr>
          <p:nvPr>
            <p:ph type="title"/>
          </p:nvPr>
        </p:nvSpPr>
        <p:spPr>
          <a:xfrm>
            <a:off x="135882" y="2588185"/>
            <a:ext cx="7284935" cy="3986351"/>
          </a:xfrm>
        </p:spPr>
        <p:txBody>
          <a:bodyPr vert="horz" lIns="91440" tIns="45720" rIns="91440" bIns="45720" rtlCol="0" anchor="t">
            <a:normAutofit fontScale="90000"/>
          </a:bodyPr>
          <a:lstStyle/>
          <a:p>
            <a:r>
              <a:rPr lang="en-US" sz="2200" dirty="0">
                <a:solidFill>
                  <a:schemeClr val="bg1"/>
                </a:solidFill>
                <a:latin typeface="Times New Roman" panose="02020603050405020304" pitchFamily="18" charset="0"/>
                <a:cs typeface="Times New Roman" panose="02020603050405020304" pitchFamily="18" charset="0"/>
              </a:rPr>
              <a:t>The combined strategy integrates both volatility scaling and regime filtering.</a:t>
            </a:r>
            <a:br>
              <a:rPr lang="en-US" sz="2200" dirty="0">
                <a:solidFill>
                  <a:schemeClr val="bg1"/>
                </a:solidFill>
                <a:latin typeface="Times New Roman" panose="02020603050405020304" pitchFamily="18" charset="0"/>
                <a:cs typeface="Times New Roman" panose="02020603050405020304" pitchFamily="18" charset="0"/>
              </a:rPr>
            </a:br>
            <a:br>
              <a:rPr lang="en-US" sz="2200" dirty="0">
                <a:solidFill>
                  <a:schemeClr val="bg1"/>
                </a:solidFill>
                <a:latin typeface="Times New Roman" panose="02020603050405020304" pitchFamily="18" charset="0"/>
                <a:cs typeface="Times New Roman" panose="02020603050405020304" pitchFamily="18" charset="0"/>
              </a:rPr>
            </a:br>
            <a:r>
              <a:rPr lang="en-US" sz="2200" dirty="0">
                <a:solidFill>
                  <a:schemeClr val="bg1"/>
                </a:solidFill>
                <a:latin typeface="Times New Roman" panose="02020603050405020304" pitchFamily="18" charset="0"/>
                <a:cs typeface="Times New Roman" panose="02020603050405020304" pitchFamily="18" charset="0"/>
              </a:rPr>
              <a:t>This approach aims to:</a:t>
            </a:r>
            <a:br>
              <a:rPr lang="en-US" sz="2200" dirty="0">
                <a:solidFill>
                  <a:schemeClr val="bg1"/>
                </a:solidFill>
                <a:latin typeface="Times New Roman" panose="02020603050405020304" pitchFamily="18" charset="0"/>
                <a:cs typeface="Times New Roman" panose="02020603050405020304" pitchFamily="18" charset="0"/>
              </a:rPr>
            </a:br>
            <a:r>
              <a:rPr lang="en-US" sz="2200" dirty="0">
                <a:solidFill>
                  <a:schemeClr val="bg1"/>
                </a:solidFill>
                <a:latin typeface="Times New Roman" panose="02020603050405020304" pitchFamily="18" charset="0"/>
                <a:cs typeface="Times New Roman" panose="02020603050405020304" pitchFamily="18" charset="0"/>
              </a:rPr>
              <a:t>- Maintain stable exposure through volatility control </a:t>
            </a:r>
            <a:br>
              <a:rPr lang="en-US" sz="2200" dirty="0">
                <a:solidFill>
                  <a:schemeClr val="bg1"/>
                </a:solidFill>
                <a:latin typeface="Times New Roman" panose="02020603050405020304" pitchFamily="18" charset="0"/>
                <a:cs typeface="Times New Roman" panose="02020603050405020304" pitchFamily="18" charset="0"/>
              </a:rPr>
            </a:br>
            <a:r>
              <a:rPr lang="en-US" sz="2200" dirty="0">
                <a:solidFill>
                  <a:schemeClr val="bg1"/>
                </a:solidFill>
                <a:latin typeface="Times New Roman" panose="02020603050405020304" pitchFamily="18" charset="0"/>
                <a:cs typeface="Times New Roman" panose="02020603050405020304" pitchFamily="18" charset="0"/>
              </a:rPr>
              <a:t>- Avoid unfavorable market regimes </a:t>
            </a:r>
            <a:br>
              <a:rPr lang="en-US" sz="2200" dirty="0">
                <a:solidFill>
                  <a:schemeClr val="bg1"/>
                </a:solidFill>
                <a:latin typeface="Times New Roman" panose="02020603050405020304" pitchFamily="18" charset="0"/>
                <a:cs typeface="Times New Roman" panose="02020603050405020304" pitchFamily="18" charset="0"/>
              </a:rPr>
            </a:br>
            <a:br>
              <a:rPr lang="en-US" sz="2200" dirty="0">
                <a:solidFill>
                  <a:schemeClr val="bg1"/>
                </a:solidFill>
                <a:latin typeface="Times New Roman" panose="02020603050405020304" pitchFamily="18" charset="0"/>
                <a:cs typeface="Times New Roman" panose="02020603050405020304" pitchFamily="18" charset="0"/>
              </a:rPr>
            </a:br>
            <a:r>
              <a:rPr lang="en-US" sz="2200" dirty="0">
                <a:solidFill>
                  <a:schemeClr val="bg1"/>
                </a:solidFill>
                <a:latin typeface="Times New Roman" panose="02020603050405020304" pitchFamily="18" charset="0"/>
                <a:cs typeface="Times New Roman" panose="02020603050405020304" pitchFamily="18" charset="0"/>
              </a:rPr>
              <a:t>Results show:</a:t>
            </a:r>
            <a:br>
              <a:rPr lang="en-US" sz="2200" dirty="0">
                <a:solidFill>
                  <a:schemeClr val="bg1"/>
                </a:solidFill>
                <a:latin typeface="Times New Roman" panose="02020603050405020304" pitchFamily="18" charset="0"/>
                <a:cs typeface="Times New Roman" panose="02020603050405020304" pitchFamily="18" charset="0"/>
              </a:rPr>
            </a:br>
            <a:r>
              <a:rPr lang="en-US" sz="2200" dirty="0">
                <a:solidFill>
                  <a:schemeClr val="bg1"/>
                </a:solidFill>
                <a:latin typeface="Times New Roman" panose="02020603050405020304" pitchFamily="18" charset="0"/>
                <a:cs typeface="Times New Roman" panose="02020603050405020304" pitchFamily="18" charset="0"/>
              </a:rPr>
              <a:t>- Improved stability compared to baseline </a:t>
            </a:r>
            <a:br>
              <a:rPr lang="en-US" sz="2200" dirty="0">
                <a:solidFill>
                  <a:schemeClr val="bg1"/>
                </a:solidFill>
                <a:latin typeface="Times New Roman" panose="02020603050405020304" pitchFamily="18" charset="0"/>
                <a:cs typeface="Times New Roman" panose="02020603050405020304" pitchFamily="18" charset="0"/>
              </a:rPr>
            </a:br>
            <a:r>
              <a:rPr lang="en-US" sz="2200" dirty="0">
                <a:solidFill>
                  <a:schemeClr val="bg1"/>
                </a:solidFill>
                <a:latin typeface="Times New Roman" panose="02020603050405020304" pitchFamily="18" charset="0"/>
                <a:cs typeface="Times New Roman" panose="02020603050405020304" pitchFamily="18" charset="0"/>
              </a:rPr>
              <a:t>- Better performance than regime filter alone </a:t>
            </a:r>
            <a:br>
              <a:rPr lang="en-US" sz="2200" dirty="0">
                <a:solidFill>
                  <a:schemeClr val="bg1"/>
                </a:solidFill>
                <a:latin typeface="Times New Roman" panose="02020603050405020304" pitchFamily="18" charset="0"/>
                <a:cs typeface="Times New Roman" panose="02020603050405020304" pitchFamily="18" charset="0"/>
              </a:rPr>
            </a:br>
            <a:r>
              <a:rPr lang="en-US" sz="2200" dirty="0">
                <a:solidFill>
                  <a:schemeClr val="bg1"/>
                </a:solidFill>
                <a:latin typeface="Times New Roman" panose="02020603050405020304" pitchFamily="18" charset="0"/>
                <a:cs typeface="Times New Roman" panose="02020603050405020304" pitchFamily="18" charset="0"/>
              </a:rPr>
              <a:t>- But slightly weaker than volatility scaling alone </a:t>
            </a:r>
            <a:br>
              <a:rPr lang="en-US" sz="2200" dirty="0">
                <a:solidFill>
                  <a:schemeClr val="bg1"/>
                </a:solidFill>
                <a:latin typeface="Times New Roman" panose="02020603050405020304" pitchFamily="18" charset="0"/>
                <a:cs typeface="Times New Roman" panose="02020603050405020304" pitchFamily="18" charset="0"/>
              </a:rPr>
            </a:br>
            <a:br>
              <a:rPr lang="en-US" sz="2200" dirty="0">
                <a:solidFill>
                  <a:schemeClr val="bg1"/>
                </a:solidFill>
                <a:latin typeface="Times New Roman" panose="02020603050405020304" pitchFamily="18" charset="0"/>
                <a:cs typeface="Times New Roman" panose="02020603050405020304" pitchFamily="18" charset="0"/>
              </a:rPr>
            </a:br>
            <a:r>
              <a:rPr lang="en-US" sz="2200" dirty="0">
                <a:solidFill>
                  <a:schemeClr val="bg1"/>
                </a:solidFill>
                <a:latin typeface="Times New Roman" panose="02020603050405020304" pitchFamily="18" charset="0"/>
                <a:cs typeface="Times New Roman" panose="02020603050405020304" pitchFamily="18" charset="0"/>
              </a:rPr>
              <a:t>This suggests that combining multiple risk controls may lead to diminishing returns.</a:t>
            </a:r>
            <a:br>
              <a:rPr lang="en-US" sz="4800" dirty="0"/>
            </a:br>
            <a:endParaRPr lang="en-US" sz="4800" kern="1200" dirty="0">
              <a:solidFill>
                <a:srgbClr val="FFFFFF"/>
              </a:solidFill>
              <a:latin typeface="+mj-lt"/>
              <a:ea typeface="+mj-ea"/>
              <a:cs typeface="+mj-cs"/>
            </a:endParaRPr>
          </a:p>
        </p:txBody>
      </p:sp>
      <p:pic>
        <p:nvPicPr>
          <p:cNvPr id="4" name="Picture 3">
            <a:extLst>
              <a:ext uri="{FF2B5EF4-FFF2-40B4-BE49-F238E27FC236}">
                <a16:creationId xmlns:a16="http://schemas.microsoft.com/office/drawing/2014/main" id="{86B5F824-FD0F-AEBB-9E90-2900C9E7A511}"/>
              </a:ext>
            </a:extLst>
          </p:cNvPr>
          <p:cNvPicPr>
            <a:picLocks noChangeAspect="1"/>
          </p:cNvPicPr>
          <p:nvPr/>
        </p:nvPicPr>
        <p:blipFill>
          <a:blip r:embed="rId2"/>
          <a:stretch>
            <a:fillRect/>
          </a:stretch>
        </p:blipFill>
        <p:spPr>
          <a:xfrm>
            <a:off x="7551749" y="2576212"/>
            <a:ext cx="4289865" cy="3262613"/>
          </a:xfrm>
          <a:prstGeom prst="rect">
            <a:avLst/>
          </a:prstGeom>
        </p:spPr>
      </p:pic>
      <p:sp>
        <p:nvSpPr>
          <p:cNvPr id="5" name="TextBox 4">
            <a:extLst>
              <a:ext uri="{FF2B5EF4-FFF2-40B4-BE49-F238E27FC236}">
                <a16:creationId xmlns:a16="http://schemas.microsoft.com/office/drawing/2014/main" id="{11231A61-39A7-85BB-2C91-65CEEDA646A4}"/>
              </a:ext>
            </a:extLst>
          </p:cNvPr>
          <p:cNvSpPr txBox="1"/>
          <p:nvPr/>
        </p:nvSpPr>
        <p:spPr>
          <a:xfrm>
            <a:off x="776824" y="1266825"/>
            <a:ext cx="5666936" cy="584775"/>
          </a:xfrm>
          <a:prstGeom prst="rect">
            <a:avLst/>
          </a:prstGeom>
          <a:noFill/>
        </p:spPr>
        <p:txBody>
          <a:bodyPr wrap="none" rtlCol="0">
            <a:spAutoFit/>
          </a:bodyPr>
          <a:lstStyle/>
          <a:p>
            <a:r>
              <a:rPr lang="en-US" sz="3200" dirty="0">
                <a:solidFill>
                  <a:schemeClr val="bg1"/>
                </a:solidFill>
                <a:latin typeface="Times New Roman" panose="02020603050405020304" pitchFamily="18" charset="0"/>
                <a:cs typeface="Times New Roman" panose="02020603050405020304" pitchFamily="18" charset="0"/>
              </a:rPr>
              <a:t>Combined Strategy Performance </a:t>
            </a:r>
          </a:p>
        </p:txBody>
      </p:sp>
    </p:spTree>
    <p:extLst>
      <p:ext uri="{BB962C8B-B14F-4D97-AF65-F5344CB8AC3E}">
        <p14:creationId xmlns:p14="http://schemas.microsoft.com/office/powerpoint/2010/main" val="1030777176"/>
      </p:ext>
    </p:extLst>
  </p:cSld>
  <p:clrMapOvr>
    <a:masterClrMapping/>
  </p:clrMapOvr>
  <mc:AlternateContent xmlns:mc="http://schemas.openxmlformats.org/markup-compatibility/2006" xmlns:p14="http://schemas.microsoft.com/office/powerpoint/2010/main">
    <mc:Choice Requires="p14">
      <p:transition spd="slow" p14:dur="2000" advTm="73617"/>
    </mc:Choice>
    <mc:Fallback xmlns="">
      <p:transition spd="slow" advTm="7361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D63398-EEE4-4E6A-BEF3-E92924A28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0"/>
            <a:ext cx="12226755"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6804B24-17AC-406D-9636-1332F5DF9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03156" y="-2460574"/>
            <a:ext cx="6859919" cy="11777232"/>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864"/>
            <a:ext cx="3608179"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1164940" y="1025588"/>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570DF94D-F28F-435E-AD56-C40FC99AF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12221732"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4F952EE-9AAE-4D81-BF98-35DF71334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942096" y="-2872097"/>
            <a:ext cx="6407535" cy="12151737"/>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59BF901-C9C5-AC7E-6479-6D5A18F7029C}"/>
              </a:ext>
            </a:extLst>
          </p:cNvPr>
          <p:cNvPicPr>
            <a:picLocks noChangeAspect="1"/>
          </p:cNvPicPr>
          <p:nvPr/>
        </p:nvPicPr>
        <p:blipFill>
          <a:blip r:embed="rId2"/>
          <a:stretch>
            <a:fillRect/>
          </a:stretch>
        </p:blipFill>
        <p:spPr>
          <a:xfrm>
            <a:off x="7171275" y="2431908"/>
            <a:ext cx="4602607" cy="3095924"/>
          </a:xfrm>
          <a:prstGeom prst="rect">
            <a:avLst/>
          </a:prstGeom>
        </p:spPr>
      </p:pic>
      <p:sp>
        <p:nvSpPr>
          <p:cNvPr id="5" name="TextBox 4">
            <a:extLst>
              <a:ext uri="{FF2B5EF4-FFF2-40B4-BE49-F238E27FC236}">
                <a16:creationId xmlns:a16="http://schemas.microsoft.com/office/drawing/2014/main" id="{3921020C-3460-E637-C152-3D8C184765F1}"/>
              </a:ext>
            </a:extLst>
          </p:cNvPr>
          <p:cNvSpPr txBox="1"/>
          <p:nvPr/>
        </p:nvSpPr>
        <p:spPr>
          <a:xfrm>
            <a:off x="384059" y="912504"/>
            <a:ext cx="3925883" cy="584775"/>
          </a:xfrm>
          <a:prstGeom prst="rect">
            <a:avLst/>
          </a:prstGeom>
          <a:noFill/>
        </p:spPr>
        <p:txBody>
          <a:bodyPr wrap="none" rtlCol="0">
            <a:spAutoFit/>
          </a:bodyPr>
          <a:lstStyle/>
          <a:p>
            <a:r>
              <a:rPr lang="en-US" sz="3200" dirty="0">
                <a:solidFill>
                  <a:schemeClr val="bg1"/>
                </a:solidFill>
                <a:latin typeface="Times New Roman" panose="02020603050405020304" pitchFamily="18" charset="0"/>
                <a:cs typeface="Times New Roman" panose="02020603050405020304" pitchFamily="18" charset="0"/>
              </a:rPr>
              <a:t>Comparative Analysis </a:t>
            </a:r>
          </a:p>
        </p:txBody>
      </p:sp>
      <p:sp>
        <p:nvSpPr>
          <p:cNvPr id="7" name="Rectangle 2">
            <a:extLst>
              <a:ext uri="{FF2B5EF4-FFF2-40B4-BE49-F238E27FC236}">
                <a16:creationId xmlns:a16="http://schemas.microsoft.com/office/drawing/2014/main" id="{9E48C7E0-FDCD-1C10-73F9-17E410043606}"/>
              </a:ext>
            </a:extLst>
          </p:cNvPr>
          <p:cNvSpPr>
            <a:spLocks noGrp="1" noChangeArrowheads="1"/>
          </p:cNvSpPr>
          <p:nvPr>
            <p:ph type="title"/>
          </p:nvPr>
        </p:nvSpPr>
        <p:spPr bwMode="auto">
          <a:xfrm>
            <a:off x="156927" y="2256013"/>
            <a:ext cx="6689005"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1"/>
                </a:solidFill>
                <a:effectLst/>
                <a:latin typeface="Arial" panose="020B0604020202020204" pitchFamily="34" charset="0"/>
              </a:rPr>
              <a:t>The </a:t>
            </a:r>
            <a:r>
              <a:rPr kumimoji="0" lang="en-US" altLang="en-US" sz="1600" i="0" u="none" strike="noStrike" cap="none" normalizeH="0" baseline="0" dirty="0">
                <a:ln>
                  <a:noFill/>
                </a:ln>
                <a:solidFill>
                  <a:schemeClr val="bg1"/>
                </a:solidFill>
                <a:effectLst/>
                <a:latin typeface="Arial" panose="020B0604020202020204" pitchFamily="34" charset="0"/>
              </a:rPr>
              <a:t>baseline strategy </a:t>
            </a:r>
            <a:r>
              <a:rPr kumimoji="0" lang="en-US" altLang="en-US" sz="1600" b="0" i="0" u="none" strike="noStrike" cap="none" normalizeH="0" baseline="0" dirty="0">
                <a:ln>
                  <a:noFill/>
                </a:ln>
                <a:solidFill>
                  <a:schemeClr val="bg1"/>
                </a:solidFill>
                <a:effectLst/>
                <a:latin typeface="Arial" panose="020B0604020202020204" pitchFamily="34" charset="0"/>
              </a:rPr>
              <a:t>confirms the presence of short-term reversal, generating strong returns but with higher volatility and less consistent performance.</a:t>
            </a:r>
            <a:br>
              <a:rPr kumimoji="0" lang="en-US" altLang="en-US" sz="1600" b="0" i="0" u="none" strike="noStrike" cap="none" normalizeH="0" baseline="0" dirty="0">
                <a:ln>
                  <a:noFill/>
                </a:ln>
                <a:solidFill>
                  <a:schemeClr val="bg1"/>
                </a:solidFill>
                <a:effectLst/>
                <a:latin typeface="Arial" panose="020B0604020202020204" pitchFamily="34" charset="0"/>
              </a:rPr>
            </a:br>
            <a:endParaRPr kumimoji="0" lang="en-US" altLang="en-US" sz="16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a:ln>
                  <a:noFill/>
                </a:ln>
                <a:solidFill>
                  <a:schemeClr val="bg1"/>
                </a:solidFill>
                <a:effectLst/>
                <a:latin typeface="Arial" panose="020B0604020202020204" pitchFamily="34" charset="0"/>
              </a:rPr>
              <a:t>Volatility scaling </a:t>
            </a:r>
            <a:r>
              <a:rPr kumimoji="0" lang="en-US" altLang="en-US" sz="1600" b="0" i="0" u="none" strike="noStrike" cap="none" normalizeH="0" baseline="0" dirty="0">
                <a:ln>
                  <a:noFill/>
                </a:ln>
                <a:solidFill>
                  <a:schemeClr val="bg1"/>
                </a:solidFill>
                <a:effectLst/>
                <a:latin typeface="Arial" panose="020B0604020202020204" pitchFamily="34" charset="0"/>
              </a:rPr>
              <a:t>significantly improves the strategy by smoothing the return path and increasing the Sharpe ratio, showing that dynamic risk adjustment is highly effective. </a:t>
            </a:r>
            <a:br>
              <a:rPr kumimoji="0" lang="en-US" altLang="en-US" sz="1600" b="0" i="0" u="none" strike="noStrike" cap="none" normalizeH="0" baseline="0" dirty="0">
                <a:ln>
                  <a:noFill/>
                </a:ln>
                <a:solidFill>
                  <a:schemeClr val="bg1"/>
                </a:solidFill>
                <a:effectLst/>
                <a:latin typeface="Arial" panose="020B0604020202020204" pitchFamily="34" charset="0"/>
              </a:rPr>
            </a:br>
            <a:endParaRPr kumimoji="0" lang="en-US" altLang="en-US" sz="16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1"/>
                </a:solidFill>
                <a:effectLst/>
                <a:latin typeface="Arial" panose="020B0604020202020204" pitchFamily="34" charset="0"/>
              </a:rPr>
              <a:t>The </a:t>
            </a:r>
            <a:r>
              <a:rPr kumimoji="0" lang="en-US" altLang="en-US" sz="1600" i="0" u="none" strike="noStrike" cap="none" normalizeH="0" baseline="0" dirty="0">
                <a:ln>
                  <a:noFill/>
                </a:ln>
                <a:solidFill>
                  <a:schemeClr val="bg1"/>
                </a:solidFill>
                <a:effectLst/>
                <a:latin typeface="Arial" panose="020B0604020202020204" pitchFamily="34" charset="0"/>
              </a:rPr>
              <a:t>regime filter </a:t>
            </a:r>
            <a:r>
              <a:rPr kumimoji="0" lang="en-US" altLang="en-US" sz="1600" b="0" i="0" u="none" strike="noStrike" cap="none" normalizeH="0" baseline="0" dirty="0">
                <a:ln>
                  <a:noFill/>
                </a:ln>
                <a:solidFill>
                  <a:schemeClr val="bg1"/>
                </a:solidFill>
                <a:effectLst/>
                <a:latin typeface="Arial" panose="020B0604020202020204" pitchFamily="34" charset="0"/>
              </a:rPr>
              <a:t>helps reduce downside risk by avoiding certain market conditions, but it also excludes profitable periods, leading to lower overall performance. </a:t>
            </a:r>
            <a:br>
              <a:rPr kumimoji="0" lang="en-US" altLang="en-US" sz="1600" b="0" i="0" u="none" strike="noStrike" cap="none" normalizeH="0" baseline="0" dirty="0">
                <a:ln>
                  <a:noFill/>
                </a:ln>
                <a:solidFill>
                  <a:schemeClr val="bg1"/>
                </a:solidFill>
                <a:effectLst/>
                <a:latin typeface="Arial" panose="020B0604020202020204" pitchFamily="34" charset="0"/>
              </a:rPr>
            </a:br>
            <a:endParaRPr kumimoji="0" lang="en-US" altLang="en-US" sz="16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1"/>
                </a:solidFill>
                <a:effectLst/>
                <a:latin typeface="Arial" panose="020B0604020202020204" pitchFamily="34" charset="0"/>
              </a:rPr>
              <a:t>The </a:t>
            </a:r>
            <a:r>
              <a:rPr kumimoji="0" lang="en-US" altLang="en-US" sz="1600" i="0" u="none" strike="noStrike" cap="none" normalizeH="0" baseline="0" dirty="0">
                <a:ln>
                  <a:noFill/>
                </a:ln>
                <a:solidFill>
                  <a:schemeClr val="bg1"/>
                </a:solidFill>
                <a:effectLst/>
                <a:latin typeface="Arial" panose="020B0604020202020204" pitchFamily="34" charset="0"/>
              </a:rPr>
              <a:t>combined strategy </a:t>
            </a:r>
            <a:r>
              <a:rPr kumimoji="0" lang="en-US" altLang="en-US" sz="1600" b="0" i="0" u="none" strike="noStrike" cap="none" normalizeH="0" baseline="0" dirty="0">
                <a:ln>
                  <a:noFill/>
                </a:ln>
                <a:solidFill>
                  <a:schemeClr val="bg1"/>
                </a:solidFill>
                <a:effectLst/>
                <a:latin typeface="Arial" panose="020B0604020202020204" pitchFamily="34" charset="0"/>
              </a:rPr>
              <a:t>improves stability relative to the baseline and performs better than the regime filter alone, but it does not outperform volatility scaling, suggesting diminishing returns from added complexity. </a:t>
            </a:r>
          </a:p>
        </p:txBody>
      </p:sp>
    </p:spTree>
    <p:extLst>
      <p:ext uri="{BB962C8B-B14F-4D97-AF65-F5344CB8AC3E}">
        <p14:creationId xmlns:p14="http://schemas.microsoft.com/office/powerpoint/2010/main" val="860091427"/>
      </p:ext>
    </p:extLst>
  </p:cSld>
  <p:clrMapOvr>
    <a:masterClrMapping/>
  </p:clrMapOvr>
  <mc:AlternateContent xmlns:mc="http://schemas.openxmlformats.org/markup-compatibility/2006" xmlns:p14="http://schemas.microsoft.com/office/powerpoint/2010/main">
    <mc:Choice Requires="p14">
      <p:transition spd="slow" p14:dur="2000" advTm="97491"/>
    </mc:Choice>
    <mc:Fallback xmlns="">
      <p:transition spd="slow" advTm="9749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D63398-EEE4-4E6A-BEF3-E92924A28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0"/>
            <a:ext cx="12226755"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6804B24-17AC-406D-9636-1332F5DF9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03156" y="-2460574"/>
            <a:ext cx="6859919" cy="11777232"/>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864"/>
            <a:ext cx="3608179"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1164940" y="1025588"/>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570DF94D-F28F-435E-AD56-C40FC99AF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12221732"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4F952EE-9AAE-4D81-BF98-35DF71334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942096" y="-2872097"/>
            <a:ext cx="6407535" cy="12151737"/>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64BF4D-2FE7-8458-E44D-10E201CFF053}"/>
              </a:ext>
            </a:extLst>
          </p:cNvPr>
          <p:cNvSpPr>
            <a:spLocks noGrp="1"/>
          </p:cNvSpPr>
          <p:nvPr>
            <p:ph type="title"/>
          </p:nvPr>
        </p:nvSpPr>
        <p:spPr>
          <a:xfrm>
            <a:off x="444499" y="2579490"/>
            <a:ext cx="6280290" cy="3221236"/>
          </a:xfrm>
        </p:spPr>
        <p:txBody>
          <a:bodyPr vert="horz" lIns="91440" tIns="45720" rIns="91440" bIns="45720" rtlCol="0" anchor="t">
            <a:normAutofit fontScale="90000"/>
          </a:bodyPr>
          <a:lstStyle/>
          <a:p>
            <a:r>
              <a:rPr lang="en-US" sz="2200" b="1" dirty="0">
                <a:solidFill>
                  <a:schemeClr val="bg1"/>
                </a:solidFill>
                <a:latin typeface="Times New Roman" panose="02020603050405020304" pitchFamily="18" charset="0"/>
                <a:cs typeface="Times New Roman" panose="02020603050405020304" pitchFamily="18" charset="0"/>
              </a:rPr>
              <a:t>Transaction Costs &amp; Market Impact</a:t>
            </a:r>
            <a:br>
              <a:rPr lang="en-US" sz="2200" dirty="0">
                <a:solidFill>
                  <a:schemeClr val="bg1"/>
                </a:solidFill>
                <a:latin typeface="Times New Roman" panose="02020603050405020304" pitchFamily="18" charset="0"/>
                <a:cs typeface="Times New Roman" panose="02020603050405020304" pitchFamily="18" charset="0"/>
              </a:rPr>
            </a:br>
            <a:r>
              <a:rPr lang="en-US" sz="2200" dirty="0">
                <a:solidFill>
                  <a:schemeClr val="bg1"/>
                </a:solidFill>
                <a:latin typeface="Times New Roman" panose="02020603050405020304" pitchFamily="18" charset="0"/>
                <a:cs typeface="Times New Roman" panose="02020603050405020304" pitchFamily="18" charset="0"/>
              </a:rPr>
              <a:t>- High turnover implies significant transaction costs </a:t>
            </a:r>
            <a:br>
              <a:rPr lang="en-US" sz="2200" dirty="0">
                <a:solidFill>
                  <a:schemeClr val="bg1"/>
                </a:solidFill>
                <a:latin typeface="Times New Roman" panose="02020603050405020304" pitchFamily="18" charset="0"/>
                <a:cs typeface="Times New Roman" panose="02020603050405020304" pitchFamily="18" charset="0"/>
              </a:rPr>
            </a:br>
            <a:r>
              <a:rPr lang="en-US" sz="2200" dirty="0">
                <a:solidFill>
                  <a:schemeClr val="bg1"/>
                </a:solidFill>
                <a:latin typeface="Times New Roman" panose="02020603050405020304" pitchFamily="18" charset="0"/>
                <a:cs typeface="Times New Roman" panose="02020603050405020304" pitchFamily="18" charset="0"/>
              </a:rPr>
              <a:t>- Bid-ask spreads and price impact may reduce returns </a:t>
            </a:r>
            <a:br>
              <a:rPr lang="en-US" sz="2200" dirty="0">
                <a:solidFill>
                  <a:schemeClr val="bg1"/>
                </a:solidFill>
                <a:latin typeface="Times New Roman" panose="02020603050405020304" pitchFamily="18" charset="0"/>
                <a:cs typeface="Times New Roman" panose="02020603050405020304" pitchFamily="18" charset="0"/>
              </a:rPr>
            </a:br>
            <a:r>
              <a:rPr lang="en-US" sz="2200" dirty="0">
                <a:solidFill>
                  <a:schemeClr val="bg1"/>
                </a:solidFill>
                <a:latin typeface="Times New Roman" panose="02020603050405020304" pitchFamily="18" charset="0"/>
                <a:cs typeface="Times New Roman" panose="02020603050405020304" pitchFamily="18" charset="0"/>
              </a:rPr>
              <a:t>- Strategy performance is likely overstated without cost adjustments </a:t>
            </a:r>
            <a:br>
              <a:rPr lang="en-US" sz="2200" dirty="0">
                <a:solidFill>
                  <a:schemeClr val="bg1"/>
                </a:solidFill>
                <a:latin typeface="Times New Roman" panose="02020603050405020304" pitchFamily="18" charset="0"/>
                <a:cs typeface="Times New Roman" panose="02020603050405020304" pitchFamily="18" charset="0"/>
              </a:rPr>
            </a:br>
            <a:br>
              <a:rPr lang="en-US" sz="2200" dirty="0">
                <a:solidFill>
                  <a:schemeClr val="bg1"/>
                </a:solidFill>
                <a:latin typeface="Times New Roman" panose="02020603050405020304" pitchFamily="18" charset="0"/>
                <a:cs typeface="Times New Roman" panose="02020603050405020304" pitchFamily="18" charset="0"/>
              </a:rPr>
            </a:br>
            <a:r>
              <a:rPr lang="en-US" sz="2200" b="1" dirty="0">
                <a:solidFill>
                  <a:schemeClr val="bg1"/>
                </a:solidFill>
                <a:latin typeface="Times New Roman" panose="02020603050405020304" pitchFamily="18" charset="0"/>
                <a:cs typeface="Times New Roman" panose="02020603050405020304" pitchFamily="18" charset="0"/>
              </a:rPr>
              <a:t>Backtesting Biases</a:t>
            </a:r>
            <a:br>
              <a:rPr lang="en-US" sz="2200" dirty="0">
                <a:solidFill>
                  <a:schemeClr val="bg1"/>
                </a:solidFill>
                <a:latin typeface="Times New Roman" panose="02020603050405020304" pitchFamily="18" charset="0"/>
                <a:cs typeface="Times New Roman" panose="02020603050405020304" pitchFamily="18" charset="0"/>
              </a:rPr>
            </a:br>
            <a:r>
              <a:rPr lang="en-US" sz="2200" dirty="0">
                <a:solidFill>
                  <a:schemeClr val="bg1"/>
                </a:solidFill>
                <a:latin typeface="Times New Roman" panose="02020603050405020304" pitchFamily="18" charset="0"/>
                <a:cs typeface="Times New Roman" panose="02020603050405020304" pitchFamily="18" charset="0"/>
              </a:rPr>
              <a:t>- Look-ahead bias avoided using lagged signals </a:t>
            </a:r>
            <a:br>
              <a:rPr lang="en-US" sz="2200" dirty="0">
                <a:solidFill>
                  <a:schemeClr val="bg1"/>
                </a:solidFill>
                <a:latin typeface="Times New Roman" panose="02020603050405020304" pitchFamily="18" charset="0"/>
                <a:cs typeface="Times New Roman" panose="02020603050405020304" pitchFamily="18" charset="0"/>
              </a:rPr>
            </a:br>
            <a:r>
              <a:rPr lang="en-US" sz="2200" dirty="0">
                <a:solidFill>
                  <a:schemeClr val="bg1"/>
                </a:solidFill>
                <a:latin typeface="Times New Roman" panose="02020603050405020304" pitchFamily="18" charset="0"/>
                <a:cs typeface="Times New Roman" panose="02020603050405020304" pitchFamily="18" charset="0"/>
              </a:rPr>
              <a:t>- Survivorship bias may still be present depending on the dataset </a:t>
            </a:r>
            <a:br>
              <a:rPr lang="en-US" sz="2200" dirty="0">
                <a:solidFill>
                  <a:schemeClr val="bg1"/>
                </a:solidFill>
                <a:latin typeface="Times New Roman" panose="02020603050405020304" pitchFamily="18" charset="0"/>
                <a:cs typeface="Times New Roman" panose="02020603050405020304" pitchFamily="18" charset="0"/>
              </a:rPr>
            </a:br>
            <a:r>
              <a:rPr lang="en-US" sz="2200" dirty="0">
                <a:solidFill>
                  <a:schemeClr val="bg1"/>
                </a:solidFill>
                <a:latin typeface="Times New Roman" panose="02020603050405020304" pitchFamily="18" charset="0"/>
                <a:cs typeface="Times New Roman" panose="02020603050405020304" pitchFamily="18" charset="0"/>
              </a:rPr>
              <a:t>- Results may be sensitive to sample period</a:t>
            </a:r>
            <a:br>
              <a:rPr lang="en-US" sz="4800" dirty="0"/>
            </a:br>
            <a:br>
              <a:rPr lang="en-US" sz="4800" dirty="0"/>
            </a:br>
            <a:endParaRPr lang="en-US" sz="4800" kern="1200" dirty="0">
              <a:solidFill>
                <a:srgbClr val="FFFFFF"/>
              </a:solidFill>
              <a:latin typeface="+mj-lt"/>
              <a:ea typeface="+mj-ea"/>
              <a:cs typeface="+mj-cs"/>
            </a:endParaRPr>
          </a:p>
        </p:txBody>
      </p:sp>
      <p:sp>
        <p:nvSpPr>
          <p:cNvPr id="4" name="TextBox 3">
            <a:extLst>
              <a:ext uri="{FF2B5EF4-FFF2-40B4-BE49-F238E27FC236}">
                <a16:creationId xmlns:a16="http://schemas.microsoft.com/office/drawing/2014/main" id="{2C43BD92-6E5F-F414-D9AE-8BA4388BFB34}"/>
              </a:ext>
            </a:extLst>
          </p:cNvPr>
          <p:cNvSpPr txBox="1"/>
          <p:nvPr/>
        </p:nvSpPr>
        <p:spPr>
          <a:xfrm>
            <a:off x="469983" y="1240731"/>
            <a:ext cx="2658166" cy="584775"/>
          </a:xfrm>
          <a:prstGeom prst="rect">
            <a:avLst/>
          </a:prstGeom>
          <a:noFill/>
        </p:spPr>
        <p:txBody>
          <a:bodyPr wrap="square" rtlCol="0">
            <a:spAutoFit/>
          </a:bodyPr>
          <a:lstStyle/>
          <a:p>
            <a:r>
              <a:rPr lang="en-US" sz="3200" dirty="0">
                <a:solidFill>
                  <a:schemeClr val="bg1"/>
                </a:solidFill>
                <a:latin typeface="Times New Roman" panose="02020603050405020304" pitchFamily="18" charset="0"/>
                <a:cs typeface="Times New Roman" panose="02020603050405020304" pitchFamily="18" charset="0"/>
              </a:rPr>
              <a:t>Risk Analysis</a:t>
            </a:r>
          </a:p>
        </p:txBody>
      </p:sp>
      <p:pic>
        <p:nvPicPr>
          <p:cNvPr id="6" name="Picture 5">
            <a:extLst>
              <a:ext uri="{FF2B5EF4-FFF2-40B4-BE49-F238E27FC236}">
                <a16:creationId xmlns:a16="http://schemas.microsoft.com/office/drawing/2014/main" id="{7B6489EE-7483-12E3-53E3-F1E9AC2786EF}"/>
              </a:ext>
            </a:extLst>
          </p:cNvPr>
          <p:cNvPicPr>
            <a:picLocks noChangeAspect="1"/>
          </p:cNvPicPr>
          <p:nvPr/>
        </p:nvPicPr>
        <p:blipFill>
          <a:blip r:embed="rId2"/>
          <a:stretch>
            <a:fillRect/>
          </a:stretch>
        </p:blipFill>
        <p:spPr>
          <a:xfrm>
            <a:off x="7118029" y="2567329"/>
            <a:ext cx="4629472" cy="3233397"/>
          </a:xfrm>
          <a:prstGeom prst="rect">
            <a:avLst/>
          </a:prstGeom>
        </p:spPr>
      </p:pic>
    </p:spTree>
    <p:extLst>
      <p:ext uri="{BB962C8B-B14F-4D97-AF65-F5344CB8AC3E}">
        <p14:creationId xmlns:p14="http://schemas.microsoft.com/office/powerpoint/2010/main" val="2856030107"/>
      </p:ext>
    </p:extLst>
  </p:cSld>
  <p:clrMapOvr>
    <a:masterClrMapping/>
  </p:clrMapOvr>
  <mc:AlternateContent xmlns:mc="http://schemas.openxmlformats.org/markup-compatibility/2006" xmlns:p14="http://schemas.microsoft.com/office/powerpoint/2010/main">
    <mc:Choice Requires="p14">
      <p:transition spd="slow" p14:dur="2000" advTm="72204"/>
    </mc:Choice>
    <mc:Fallback xmlns="">
      <p:transition spd="slow" advTm="7220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D63398-EEE4-4E6A-BEF3-E92924A28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0"/>
            <a:ext cx="12226755"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6804B24-17AC-406D-9636-1332F5DF9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03156" y="-2460574"/>
            <a:ext cx="6859919" cy="11777232"/>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864"/>
            <a:ext cx="3608179"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1164940" y="1025588"/>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570DF94D-F28F-435E-AD56-C40FC99AF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12221732"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4F952EE-9AAE-4D81-BF98-35DF71334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942096" y="-2872097"/>
            <a:ext cx="6407535" cy="12151737"/>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682E64D-291F-3502-7379-503369A57FE8}"/>
              </a:ext>
            </a:extLst>
          </p:cNvPr>
          <p:cNvPicPr>
            <a:picLocks noChangeAspect="1"/>
          </p:cNvPicPr>
          <p:nvPr/>
        </p:nvPicPr>
        <p:blipFill>
          <a:blip r:embed="rId2"/>
          <a:stretch>
            <a:fillRect/>
          </a:stretch>
        </p:blipFill>
        <p:spPr>
          <a:xfrm>
            <a:off x="6145863" y="508258"/>
            <a:ext cx="5605901" cy="2448267"/>
          </a:xfrm>
          <a:prstGeom prst="rect">
            <a:avLst/>
          </a:prstGeom>
        </p:spPr>
      </p:pic>
      <p:sp>
        <p:nvSpPr>
          <p:cNvPr id="19" name="Rectangle 4">
            <a:extLst>
              <a:ext uri="{FF2B5EF4-FFF2-40B4-BE49-F238E27FC236}">
                <a16:creationId xmlns:a16="http://schemas.microsoft.com/office/drawing/2014/main" id="{1E38F995-31F7-A75B-56C7-DA80F8CA0DE1}"/>
              </a:ext>
            </a:extLst>
          </p:cNvPr>
          <p:cNvSpPr>
            <a:spLocks noGrp="1" noChangeArrowheads="1"/>
          </p:cNvSpPr>
          <p:nvPr>
            <p:ph type="title"/>
          </p:nvPr>
        </p:nvSpPr>
        <p:spPr bwMode="auto">
          <a:xfrm>
            <a:off x="161035" y="2727265"/>
            <a:ext cx="10470297"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The strategy’s performance is evaluated across different time periods to ensure that results are not driven by a specific market environment. While performance varies over time, the core reversal effect remains present, suggesting the signal is reasonably robust.</a:t>
            </a:r>
            <a:b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However, like many quantitative strategies, results may still be sensitive to the sample period and specific parameter choices, meaning performance could differ under alternative assumptions.</a:t>
            </a:r>
            <a:b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In terms of implementation, the strategy involves frequent rebalancing and trading across many stocks, leading to high turnover.</a:t>
            </a:r>
            <a:b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This creates potential </a:t>
            </a:r>
            <a:r>
              <a:rPr kumimoji="0" lang="en-US" alt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capacity constraints</a:t>
            </a: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as scaling the strategy to larger capital may become difficult due to liquidity limitations and increased market impact.</a:t>
            </a:r>
            <a:b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endPar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As position sizes grow, executing trades without affecting prices becomes more challenging, which could reduce realized returns.</a:t>
            </a:r>
          </a:p>
        </p:txBody>
      </p:sp>
      <p:sp>
        <p:nvSpPr>
          <p:cNvPr id="21" name="TextBox 20">
            <a:extLst>
              <a:ext uri="{FF2B5EF4-FFF2-40B4-BE49-F238E27FC236}">
                <a16:creationId xmlns:a16="http://schemas.microsoft.com/office/drawing/2014/main" id="{D18C2D8A-8410-131C-2569-467FAD3FD774}"/>
              </a:ext>
            </a:extLst>
          </p:cNvPr>
          <p:cNvSpPr txBox="1"/>
          <p:nvPr/>
        </p:nvSpPr>
        <p:spPr>
          <a:xfrm>
            <a:off x="378680" y="1147617"/>
            <a:ext cx="5559342" cy="584775"/>
          </a:xfrm>
          <a:prstGeom prst="rect">
            <a:avLst/>
          </a:prstGeom>
          <a:noFill/>
        </p:spPr>
        <p:txBody>
          <a:bodyPr wrap="none" rtlCol="0">
            <a:spAutoFit/>
          </a:bodyPr>
          <a:lstStyle/>
          <a:p>
            <a:r>
              <a:rPr lang="en-US" sz="3200" dirty="0">
                <a:solidFill>
                  <a:schemeClr val="bg1"/>
                </a:solidFill>
                <a:latin typeface="Times New Roman" panose="02020603050405020304" pitchFamily="18" charset="0"/>
                <a:cs typeface="Times New Roman" panose="02020603050405020304" pitchFamily="18" charset="0"/>
              </a:rPr>
              <a:t>Robustness &amp; Capacity Analysis</a:t>
            </a:r>
          </a:p>
        </p:txBody>
      </p:sp>
    </p:spTree>
    <p:extLst>
      <p:ext uri="{BB962C8B-B14F-4D97-AF65-F5344CB8AC3E}">
        <p14:creationId xmlns:p14="http://schemas.microsoft.com/office/powerpoint/2010/main" val="3280104358"/>
      </p:ext>
    </p:extLst>
  </p:cSld>
  <p:clrMapOvr>
    <a:masterClrMapping/>
  </p:clrMapOvr>
  <mc:AlternateContent xmlns:mc="http://schemas.openxmlformats.org/markup-compatibility/2006" xmlns:p14="http://schemas.microsoft.com/office/powerpoint/2010/main">
    <mc:Choice Requires="p14">
      <p:transition spd="slow" p14:dur="2000" advTm="168651"/>
    </mc:Choice>
    <mc:Fallback xmlns="">
      <p:transition spd="slow" advTm="16865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6D63398-EEE4-4E6A-BEF3-E92924A282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0"/>
            <a:ext cx="12226755" cy="6858000"/>
          </a:xfrm>
          <a:prstGeom prst="rect">
            <a:avLst/>
          </a:prstGeom>
          <a:gradFill>
            <a:gsLst>
              <a:gs pos="0">
                <a:srgbClr val="000000"/>
              </a:gs>
              <a:gs pos="10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6804B24-17AC-406D-9636-1332F5DF9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903156" y="-2460574"/>
            <a:ext cx="6859919" cy="11777232"/>
          </a:xfrm>
          <a:prstGeom prst="rect">
            <a:avLst/>
          </a:prstGeom>
          <a:gradFill>
            <a:gsLst>
              <a:gs pos="0">
                <a:schemeClr val="accent1">
                  <a:lumMod val="50000"/>
                  <a:alpha val="0"/>
                </a:schemeClr>
              </a:gs>
              <a:gs pos="100000">
                <a:schemeClr val="accent1">
                  <a:lumMod val="50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23" y="-864"/>
            <a:ext cx="3608179" cy="6858864"/>
          </a:xfrm>
          <a:prstGeom prst="rect">
            <a:avLst/>
          </a:prstGeom>
          <a:gradFill>
            <a:gsLst>
              <a:gs pos="0">
                <a:schemeClr val="accent1">
                  <a:lumMod val="75000"/>
                  <a:alpha val="48000"/>
                </a:schemeClr>
              </a:gs>
              <a:gs pos="99000">
                <a:srgbClr val="000000">
                  <a:alpha val="46000"/>
                </a:srgb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626703">
            <a:off x="1164940" y="1025588"/>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570DF94D-F28F-435E-AD56-C40FC99AFA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2409782"/>
            <a:ext cx="12221732" cy="4443259"/>
          </a:xfrm>
          <a:prstGeom prst="rect">
            <a:avLst/>
          </a:prstGeom>
          <a:gradFill>
            <a:gsLst>
              <a:gs pos="0">
                <a:schemeClr val="accent1">
                  <a:lumMod val="75000"/>
                  <a:alpha val="50000"/>
                </a:schemeClr>
              </a:gs>
              <a:gs pos="99000">
                <a:srgbClr val="000000">
                  <a:alpha val="11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4F952EE-9AAE-4D81-BF98-35DF71334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942096" y="-2872097"/>
            <a:ext cx="6407535" cy="12151737"/>
          </a:xfrm>
          <a:prstGeom prst="rect">
            <a:avLst/>
          </a:prstGeom>
          <a:gradFill>
            <a:gsLst>
              <a:gs pos="1000">
                <a:srgbClr val="000000">
                  <a:alpha val="33000"/>
                </a:srgbClr>
              </a:gs>
              <a:gs pos="100000">
                <a:schemeClr val="accent1">
                  <a:lumMod val="50000"/>
                  <a:alpha val="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
            <a:extLst>
              <a:ext uri="{FF2B5EF4-FFF2-40B4-BE49-F238E27FC236}">
                <a16:creationId xmlns:a16="http://schemas.microsoft.com/office/drawing/2014/main" id="{5AA01037-E364-40C9-0A73-7310682BBAE4}"/>
              </a:ext>
            </a:extLst>
          </p:cNvPr>
          <p:cNvSpPr>
            <a:spLocks noGrp="1" noChangeArrowheads="1"/>
          </p:cNvSpPr>
          <p:nvPr>
            <p:ph type="title"/>
          </p:nvPr>
        </p:nvSpPr>
        <p:spPr bwMode="auto">
          <a:xfrm>
            <a:off x="625474" y="2361984"/>
            <a:ext cx="10937876"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The results confirm that </a:t>
            </a: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short-term reversal is a persistent and exploitable signal</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generating strong baseline performance </a:t>
            </a:r>
            <a:b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endPar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Risk management plays a critical role</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in improving the strategy, with volatility scaling significantly enhancing stability and risk-adjusted returns </a:t>
            </a:r>
            <a:b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endPar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Not all enhancements add value</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 while regime filtering reduces downside risk, it can also remove profitable opportunities and weaken performance </a:t>
            </a:r>
            <a:b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endPar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The </a:t>
            </a:r>
            <a:r>
              <a:rPr kumimoji="0" lang="en-US" altLang="en-US" sz="20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combined strategy improves robustness</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but does not outperform volatility scaling alone, highlighting diminishing returns from added complexity </a:t>
            </a:r>
          </a:p>
        </p:txBody>
      </p:sp>
      <p:sp>
        <p:nvSpPr>
          <p:cNvPr id="5" name="TextBox 4">
            <a:extLst>
              <a:ext uri="{FF2B5EF4-FFF2-40B4-BE49-F238E27FC236}">
                <a16:creationId xmlns:a16="http://schemas.microsoft.com/office/drawing/2014/main" id="{E690DFB0-1D2C-FD16-1660-3BAF161795E1}"/>
              </a:ext>
            </a:extLst>
          </p:cNvPr>
          <p:cNvSpPr txBox="1"/>
          <p:nvPr/>
        </p:nvSpPr>
        <p:spPr>
          <a:xfrm>
            <a:off x="923925" y="1504950"/>
            <a:ext cx="3113160" cy="584775"/>
          </a:xfrm>
          <a:prstGeom prst="rect">
            <a:avLst/>
          </a:prstGeom>
          <a:noFill/>
        </p:spPr>
        <p:txBody>
          <a:bodyPr wrap="none" rtlCol="0">
            <a:spAutoFit/>
          </a:bodyPr>
          <a:lstStyle/>
          <a:p>
            <a:r>
              <a:rPr lang="en-US" sz="3200" dirty="0">
                <a:solidFill>
                  <a:schemeClr val="bg1"/>
                </a:solidFill>
                <a:latin typeface="Times New Roman" panose="02020603050405020304" pitchFamily="18" charset="0"/>
                <a:cs typeface="Times New Roman" panose="02020603050405020304" pitchFamily="18" charset="0"/>
              </a:rPr>
              <a:t>Final Takeaways </a:t>
            </a:r>
          </a:p>
        </p:txBody>
      </p:sp>
    </p:spTree>
    <p:extLst>
      <p:ext uri="{BB962C8B-B14F-4D97-AF65-F5344CB8AC3E}">
        <p14:creationId xmlns:p14="http://schemas.microsoft.com/office/powerpoint/2010/main" val="2961779254"/>
      </p:ext>
    </p:extLst>
  </p:cSld>
  <p:clrMapOvr>
    <a:masterClrMapping/>
  </p:clrMapOvr>
  <mc:AlternateContent xmlns:mc="http://schemas.openxmlformats.org/markup-compatibility/2006" xmlns:p14="http://schemas.microsoft.com/office/powerpoint/2010/main">
    <mc:Choice Requires="p14">
      <p:transition spd="slow" p14:dur="2000" advTm="45906"/>
    </mc:Choice>
    <mc:Fallback xmlns="">
      <p:transition spd="slow" advTm="45906"/>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235</TotalTime>
  <Words>949</Words>
  <Application>Microsoft Office PowerPoint</Application>
  <PresentationFormat>Widescreen</PresentationFormat>
  <Paragraphs>65</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Times New Roman</vt:lpstr>
      <vt:lpstr>Office Theme</vt:lpstr>
      <vt:lpstr>Short-Term Reversal Strategy with Risk Adjustments </vt:lpstr>
      <vt:lpstr>Financial markets are not perfectly efficient in the short run. Behavioral biases often lead investors to overreact to recent information, pushing prices away from their fundamental values.   As a result: 1. Recent losers may become undervalued  2. Recent winners may become overvalued    This creates an opportunity for a systematic strategy that: - Buys past losers  - Sells past winners  - Profits from mean reversion in prices  </vt:lpstr>
      <vt:lpstr>The trading signal is constructed using past returns:  1. For each stock, I compute the previous month’s return  2. Stocks are ranked cross-sectionally based on this metric  3. Portfolios are formed by grouping stocks into quantiles   Portfolio construction: - Long position in the worst-performing stocks (losers)  - Short position in the best-performing stocks (winners)   To ensure realism: - All signals are lagged  - Only information available at the time is used </vt:lpstr>
      <vt:lpstr>  </vt:lpstr>
      <vt:lpstr>Volatility Scaling Performance </vt:lpstr>
      <vt:lpstr>The regime filter attempts to improve performance by conditioning the strategy on broader market conditions.   The idea is that: - Some market environments are more favorable for reversal strategies  - Avoiding unfavorable periods can reduce losses    However, results show that: - The Sharpe ratio is lower than the volatility-scaled strategy  - Some profitable periods are excluded  - The filter may be too restrictive  </vt:lpstr>
      <vt:lpstr>The combined strategy integrates both volatility scaling and regime filtering.  This approach aims to: - Maintain stable exposure through volatility control  - Avoid unfavorable market regimes   Results show: - Improved stability compared to baseline  - Better performance than regime filter alone  - But slightly weaker than volatility scaling alone   This suggests that combining multiple risk controls may lead to diminishing returns. </vt:lpstr>
      <vt:lpstr> The baseline strategy confirms the presence of short-term reversal, generating strong returns but with higher volatility and less consistent performance.  Volatility scaling significantly improves the strategy by smoothing the return path and increasing the Sharpe ratio, showing that dynamic risk adjustment is highly effective.   The regime filter helps reduce downside risk by avoiding certain market conditions, but it also excludes profitable periods, leading to lower overall performance.   The combined strategy improves stability relative to the baseline and performs better than the regime filter alone, but it does not outperform volatility scaling, suggesting diminishing returns from added complexity. </vt:lpstr>
      <vt:lpstr>Transaction Costs &amp; Market Impact - High turnover implies significant transaction costs  - Bid-ask spreads and price impact may reduce returns  - Strategy performance is likely overstated without cost adjustments   Backtesting Biases - Look-ahead bias avoided using lagged signals  - Survivorship bias may still be present depending on the dataset  - Results may be sensitive to sample period  </vt:lpstr>
      <vt:lpstr> The strategy’s performance is evaluated across different time periods to ensure that results are not driven by a specific market environment. While performance varies over time, the core reversal effect remains present, suggesting the signal is reasonably robust.  However, like many quantitative strategies, results may still be sensitive to the sample period and specific parameter choices, meaning performance could differ under alternative assumptions.   In terms of implementation, the strategy involves frequent rebalancing and trading across many stocks, leading to high turnover.  This creates potential capacity constraints, as scaling the strategy to larger capital may become difficult due to liquidity limitations and increased market impact.  As position sizes grow, executing trades without affecting prices becomes more challenging, which could reduce realized returns.</vt:lpstr>
      <vt:lpstr> The results confirm that short-term reversal is a persistent and exploitable signal, generating strong baseline performance   Risk management plays a critical role in improving the strategy, with volatility scaling significantly enhancing stability and risk-adjusted returns   Not all enhancements add value — while regime filtering reduces downside risk, it can also remove profitable opportunities and weaken performance   The combined strategy improves robustness, but does not outperform volatility scaling alone, highlighting diminishing returns from added complexity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Dias De Souza, Rafael (diasderl)</dc:creator>
  <cp:lastModifiedBy>Dias De Souza, Rafael (diasderl)</cp:lastModifiedBy>
  <cp:revision>6</cp:revision>
  <dcterms:created xsi:type="dcterms:W3CDTF">2026-04-20T13:10:16Z</dcterms:created>
  <dcterms:modified xsi:type="dcterms:W3CDTF">2026-04-22T16:51:32Z</dcterms:modified>
</cp:coreProperties>
</file>